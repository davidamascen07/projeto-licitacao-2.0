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2274" y="-10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pt-BR"/>
  <c:chart>
    <c:plotArea>
      <c:layout/>
      <c:barChart>
        <c:barDir val="col"/>
        <c:grouping val="clustered"/>
        <c:ser>
          <c:idx val="0"/>
          <c:order val="0"/>
          <c:tx>
            <c:v>Avaliação anterior</c:v>
          </c:tx>
          <c:spPr>
            <a:solidFill>
              <a:srgbClr val="94A3B8"/>
            </a:solidFill>
          </c:spPr>
          <c:cat>
            <c:strLit>
              <c:ptCount val="3"/>
              <c:pt idx="0">
                <c:v>Cobertura</c:v>
              </c:pt>
              <c:pt idx="1">
                <c:v>Answer Correctness</c:v>
              </c:pt>
              <c:pt idx="2">
                <c:v>Faithfulness</c:v>
              </c:pt>
            </c:strLit>
          </c:cat>
          <c:val>
            <c:numLit>
              <c:formatCode>General</c:formatCode>
              <c:ptCount val="3"/>
              <c:pt idx="0">
                <c:v>22.22</c:v>
              </c:pt>
              <c:pt idx="1">
                <c:v>84.69</c:v>
              </c:pt>
              <c:pt idx="2">
                <c:v>100</c:v>
              </c:pt>
            </c:numLit>
          </c:val>
        </c:ser>
        <c:ser>
          <c:idx val="1"/>
          <c:order val="1"/>
          <c:tx>
            <c:v>Nova rodada</c:v>
          </c:tx>
          <c:spPr>
            <a:solidFill>
              <a:srgbClr val="2563EB"/>
            </a:solidFill>
          </c:spPr>
          <c:cat>
            <c:strLit>
              <c:ptCount val="3"/>
              <c:pt idx="0">
                <c:v>Cobertura</c:v>
              </c:pt>
              <c:pt idx="1">
                <c:v>Answer Correctness</c:v>
              </c:pt>
              <c:pt idx="2">
                <c:v>Faithfulness</c:v>
              </c:pt>
            </c:strLit>
          </c:cat>
          <c:val>
            <c:numLit>
              <c:formatCode>General</c:formatCode>
              <c:ptCount val="3"/>
              <c:pt idx="0">
                <c:v>33.33</c:v>
              </c:pt>
              <c:pt idx="1">
                <c:v>95.78</c:v>
              </c:pt>
              <c:pt idx="2">
                <c:v>100</c:v>
              </c:pt>
            </c:numLit>
          </c:val>
        </c:ser>
        <c:dLbls>
          <c:showVal val="1"/>
        </c:dLbls>
        <c:axId val="165344768"/>
        <c:axId val="165346688"/>
      </c:barChart>
      <c:catAx>
        <c:axId val="165344768"/>
        <c:scaling>
          <c:orientation val="minMax"/>
        </c:scaling>
        <c:axPos val="b"/>
        <c:numFmt formatCode="General" sourceLinked="0"/>
        <c:maj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pt-BR"/>
          </a:p>
        </c:txPr>
        <c:crossAx val="165346688"/>
        <c:crosses val="autoZero"/>
        <c:lblAlgn val="ctr"/>
        <c:lblOffset val="100"/>
      </c:catAx>
      <c:valAx>
        <c:axId val="165346688"/>
        <c:scaling>
          <c:orientation val="minMax"/>
          <c:max val="110"/>
          <c:min val="0"/>
        </c:scaling>
        <c:axPos val="l"/>
        <c:majorGridlines>
          <c:spPr>
            <a:ln w="9525">
              <a:solidFill>
                <a:srgbClr val="CBD5E1"/>
              </a:solidFill>
              <a:prstDash val="solid"/>
            </a:ln>
          </c:spPr>
        </c:majorGridlines>
        <c:numFmt formatCode="General" sourceLinked="0"/>
        <c:maj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pt-BR"/>
          </a:p>
        </c:txPr>
        <c:crossAx val="165344768"/>
        <c:crosses val="autoZero"/>
        <c:crossBetween val="between"/>
      </c:valAx>
    </c:plotArea>
    <c:legend>
      <c:legendPos val="b"/>
      <c:layout/>
    </c:legend>
    <c:plotVisOnly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o sistema como um MVP funcional e auditável, não apenas como um chatbot.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ia/Projeto-licitao/projeto-entrega1.pdf</a:t>
            </a:r>
          </a:p>
          <a:p>
            <a:r>
              <a:t>- E:/projetos/00- projeto ia/Projeto-licitao/docs/projeto-entrega2.md</a:t>
            </a:r>
          </a:p>
          <a:p>
            <a:r>
              <a:t>- E:/projetos/00- projeto ia/Projeto-licitao/README.md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a complementaridade das funções e destaque que avaliação e reprodutibilidade fazem parte do produto.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ia/Projeto-licitao/docs/projeto-entrega2.md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 exemplo de prazo para mostrar por que simples busca por palavra-chave não resolve o problema.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ia/Projeto-licitao/projeto-entrega1.pdf</a:t>
            </a:r>
          </a:p>
          <a:p>
            <a:r>
              <a:t>- E:/projetos/00- projeto ia/Projeto-licitao/docs/projeto-entrega2.md</a:t>
            </a:r>
          </a:p>
          <a:p>
            <a:r>
              <a:t>- E:/projetos/00- projeto ia/Projeto-licitao/output/relatorio_melhoria_estrutural_rag_2026-08-07.md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o sistema separa ingestão, recuperação e validação; isso permite auditar cada etapa.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ia/Projeto-licitao/README.md</a:t>
            </a:r>
          </a:p>
          <a:p>
            <a:r>
              <a:t>- E:/projetos/00- projeto ia/Projeto-licitao/services/document_processor.py</a:t>
            </a:r>
          </a:p>
          <a:p>
            <a:r>
              <a:t>- E:/projetos/00- projeto ia/Projeto-licitao/services/rag_engine.py</a:t>
            </a:r>
          </a:p>
          <a:p>
            <a:r>
              <a:t>- E:/projetos/00- projeto ia/Projeto-licitao/services/agent_workflow.py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Destaque o isolamento por documento para evitar que uma resposta use trechos de outro edital.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ia/Projeto-licitao/README.md</a:t>
            </a:r>
          </a:p>
          <a:p>
            <a:r>
              <a:t>- E:/projetos/00- projeto ia/Projeto-licitao/services/document_processor.py</a:t>
            </a:r>
          </a:p>
          <a:p>
            <a:r>
              <a:t>- E:/projetos/00- projeto ia/Projeto-licitao/services/vector_store.py</a:t>
            </a:r>
          </a:p>
          <a:p>
            <a:r>
              <a:t>- E:/projetos/00- projeto ia/Projeto-licitao/services/rag_engine.py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Separe o corpus atual da aplicação do benchmark congelado: são conjuntos com papéis diferentes.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ia/Projeto-licitao/docs/projeto-entrega2.md</a:t>
            </a:r>
          </a:p>
          <a:p>
            <a:r>
              <a:t>- E:/projetos/00- projeto ia/Projeto-licitao/evaluation/benchmark.json</a:t>
            </a:r>
          </a:p>
          <a:p>
            <a:r>
              <a:t>- E:/projetos/00- projeto ia/Projeto-licitao/evaluation/results/rerun_current_2026-08-07_test/global_summary.json</a:t>
            </a:r>
          </a:p>
          <a:p>
            <a:r>
              <a:t>- E:/Temp/codex-clipboard-fad9b929-0329-4301-9fb0-4b0abded595e.png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que a interface permite inspecionar a cadeia de evidência, não apenas ler uma resposta final.</a:t>
            </a:r>
          </a:p>
          <a:p>
            <a:endParaRPr/>
          </a:p>
          <a:p>
            <a:r>
              <a:t>[Sources]</a:t>
            </a:r>
          </a:p>
          <a:p>
            <a:r>
              <a:t>- E:/Temp/codex-clipboard-fad9b929-0329-4301-9fb0-4b0abded595e.png</a:t>
            </a:r>
          </a:p>
          <a:p>
            <a:r>
              <a:t>- E:/projetos/00- projeto ia/Projeto-licitao/templates/index.html</a:t>
            </a:r>
          </a:p>
          <a:p>
            <a:r>
              <a:t>- E:/projetos/00- projeto ia/Projeto-licitao/app.py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os ganhos são reais, mas a amostra respondida continua pequena; evite interpretar as médias sem a cobertura.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ia/Projeto-licitao/docs/projeto-entrega2.md</a:t>
            </a:r>
          </a:p>
          <a:p>
            <a:r>
              <a:t>- E:/projetos/00- projeto ia/Projeto-licitao/evaluation/results/rerun_current_2026-08-07_test/global_summary.json</a:t>
            </a:r>
          </a:p>
          <a:p>
            <a:r>
              <a:t>- E:/projetos/00- projeto ia/Projeto-licitao/evaluation/results/rerun_current_2026-08-07_test/comparison_report.md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métrica de alucinação passou a medir suporte factual. O mismatch permanece útil, mas com outro nome e outra interpretação.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ia/Projeto-licitao/evaluation/results/rerun_current_2026-08-07_test/global_summary.json</a:t>
            </a:r>
          </a:p>
          <a:p>
            <a:r>
              <a:t>- E:/projetos/00- projeto ia/Projeto-licitao/evaluation/metrics.py</a:t>
            </a:r>
          </a:p>
          <a:p>
            <a:r>
              <a:t>- E:/projetos/00- projeto ia/Projeto-licitao/evaluation/generate_reports.py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Associe qualidade do RAG à qualidade de software: regressões, isolamento documental e decisões auditáveis.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ia/Projeto-licitao/output/relatorio_rag_decisoes_auditaveis_2026-08-07.md</a:t>
            </a:r>
          </a:p>
          <a:p>
            <a:r>
              <a:t>- E:/projetos/00- projeto ia/Projeto-licitao/output/decision_audit_2026-08-07.json</a:t>
            </a:r>
          </a:p>
          <a:p>
            <a:r>
              <a:t>- E:/projetos/00- projeto ia/Projeto-licitao/tests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conclusão científica deve ser proporcional ao tamanho do teste. A prioridade é aumentar cobertura antes de celebrar as médias.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ia/Projeto-licitao/docs/projeto-entrega2.md</a:t>
            </a:r>
          </a:p>
          <a:p>
            <a:r>
              <a:t>- E:/projetos/00- projeto ia/Projeto-licitao/evaluation/results/rerun_current_2026-08-07_test/global_summary.json</a:t>
            </a:r>
          </a:p>
          <a:p>
            <a:r>
              <a:t>- E:/projetos/00- projeto ia/Projeto-licitao/output/relatorio_rag_zero_regressoes_2026-08-07.md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com a ideia de baseline forte: o núcleo está pronto para uma avaliação maior, com foco explícito em cobertura.</a:t>
            </a:r>
          </a:p>
          <a:p>
            <a:endParaRPr/>
          </a:p>
          <a:p>
            <a:r>
              <a:t>[Sources]</a:t>
            </a:r>
          </a:p>
          <a:p>
            <a:r>
              <a:t>- E:/projetos/00- projeto ia/Projeto-licitao/evaluation/results/rerun_current_2026-08-07_test/global_summary.json</a:t>
            </a:r>
          </a:p>
          <a:p>
            <a:r>
              <a:t>- E:/projetos/00- projeto ia/Projeto-licitao/output/relatorio_rag_decisoes_auditaveis_2026-08-07.md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D208F778-B269-49B9-ADB5-9FE546D581AE}"/>
              </a:ext>
            </a:extLst>
          </p:cNvPr>
          <p:cNvSpPr>
            <a:spLocks noGrp="1"/>
          </p:cNvSpPr>
          <p:nvPr/>
        </p:nvSpPr>
        <p:spPr>
          <a:xfrm>
            <a:off x="647700" y="5905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PROJETO DE NLP • 2026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18DD82D7-37EA-4E1E-9703-DE4EF50AA0CE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7048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Agente Autônomo</a:t>
            </a:r>
          </a:p>
          <a:p>
            <a:pPr>
              <a:defRPr sz="4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Análise de Editais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81580499-CC13-4BDB-BF73-25648B4BCFCF}"/>
              </a:ext>
            </a:extLst>
          </p:cNvPr>
          <p:cNvSpPr>
            <a:spLocks noGrp="1"/>
          </p:cNvSpPr>
          <p:nvPr/>
        </p:nvSpPr>
        <p:spPr>
          <a:xfrm>
            <a:off x="666750" y="3524250"/>
            <a:ext cx="638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64748B"/>
                </a:solidFill>
                <a:latin typeface="Aptos"/>
                <a:ea typeface="Aptos"/>
                <a:cs typeface="Aptos"/>
              </a:rPr>
              <a:t>RAG auditável para localizar respostas, validar evidências e reduzir decisões sem suporte documental.</a:t>
            </a:r>
          </a:p>
        </p:txBody>
      </p:sp>
      <p:sp>
        <p:nvSpPr>
          <p:cNvPr id="4" name="Retângulo de cantos arredondados 3">
            <a:extLst>
              <a:ext uri="{FF2B5EF4-FFF2-40B4-BE49-F238E27FC236}">
                <a16:creationId xmlns:a16="http://schemas.microsoft.com/office/drawing/2014/main" xmlns="" id="{463B06CF-0ACF-4418-9F2B-BCB6EFA21A48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725C7FCC-93E1-4804-9A6D-75DB7953128D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Flask</a:t>
            </a:r>
          </a:p>
        </p:txBody>
      </p:sp>
      <p:sp>
        <p:nvSpPr>
          <p:cNvPr id="6" name="Retângulo de cantos arredondados 5">
            <a:extLst>
              <a:ext uri="{FF2B5EF4-FFF2-40B4-BE49-F238E27FC236}">
                <a16:creationId xmlns:a16="http://schemas.microsoft.com/office/drawing/2014/main" xmlns="" id="{D7B3495E-5F21-4BC2-9D83-B4BE1DC4E7E9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6C9F613B-54A6-45A7-A264-F1F298A5F7F8}"/>
              </a:ext>
            </a:extLst>
          </p:cNvPr>
          <p:cNvSpPr>
            <a:spLocks noGrp="1"/>
          </p:cNvSpPr>
          <p:nvPr/>
        </p:nvSpPr>
        <p:spPr>
          <a:xfrm>
            <a:off x="1847850" y="52673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MiniLM + FAISS</a:t>
            </a:r>
          </a:p>
        </p:txBody>
      </p:sp>
      <p:sp>
        <p:nvSpPr>
          <p:cNvPr id="8" name="Retângulo de cantos arredondados 7">
            <a:extLst>
              <a:ext uri="{FF2B5EF4-FFF2-40B4-BE49-F238E27FC236}">
                <a16:creationId xmlns:a16="http://schemas.microsoft.com/office/drawing/2014/main" xmlns="" id="{D38BAD3E-7FE1-45AA-9D32-D9F9555D051C}"/>
              </a:ext>
            </a:extLst>
          </p:cNvPr>
          <p:cNvSpPr>
            <a:spLocks noGrp="1"/>
          </p:cNvSpPr>
          <p:nvPr/>
        </p:nvSpPr>
        <p:spPr>
          <a:xfrm>
            <a:off x="3467100" y="52197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0673B00F-D373-4AF2-A22A-06889DD16BC0}"/>
              </a:ext>
            </a:extLst>
          </p:cNvPr>
          <p:cNvSpPr>
            <a:spLocks noGrp="1"/>
          </p:cNvSpPr>
          <p:nvPr/>
        </p:nvSpPr>
        <p:spPr>
          <a:xfrm>
            <a:off x="3562350" y="52673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Groq + LlamaIndex</a:t>
            </a:r>
          </a:p>
        </p:txBody>
      </p:sp>
      <p:sp>
        <p:nvSpPr>
          <p:cNvPr id="10" name="Retângulo de cantos arredondados 9">
            <a:extLst>
              <a:ext uri="{FF2B5EF4-FFF2-40B4-BE49-F238E27FC236}">
                <a16:creationId xmlns:a16="http://schemas.microsoft.com/office/drawing/2014/main" xmlns="" id="{5F449082-249B-410F-B1F9-87FDDFC49BDC}"/>
              </a:ext>
            </a:extLst>
          </p:cNvPr>
          <p:cNvSpPr>
            <a:spLocks noGrp="1"/>
          </p:cNvSpPr>
          <p:nvPr/>
        </p:nvSpPr>
        <p:spPr>
          <a:xfrm>
            <a:off x="5372100" y="52197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286AF4F2-5434-4531-B7EE-8F60D411671A}"/>
              </a:ext>
            </a:extLst>
          </p:cNvPr>
          <p:cNvSpPr>
            <a:spLocks noGrp="1"/>
          </p:cNvSpPr>
          <p:nvPr/>
        </p:nvSpPr>
        <p:spPr>
          <a:xfrm>
            <a:off x="5467350" y="52673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Evidência literal</a:t>
            </a:r>
          </a:p>
        </p:txBody>
      </p:sp>
      <p:sp>
        <p:nvSpPr>
          <p:cNvPr id="12" name="Retângulo de cantos arredondados 11">
            <a:extLst>
              <a:ext uri="{FF2B5EF4-FFF2-40B4-BE49-F238E27FC236}">
                <a16:creationId xmlns:a16="http://schemas.microsoft.com/office/drawing/2014/main" xmlns="" id="{A61C8665-D707-4467-BFEC-3A6B55687196}"/>
              </a:ext>
            </a:extLst>
          </p:cNvPr>
          <p:cNvSpPr>
            <a:spLocks noGrp="1"/>
          </p:cNvSpPr>
          <p:nvPr/>
        </p:nvSpPr>
        <p:spPr>
          <a:xfrm>
            <a:off x="8229600" y="876300"/>
            <a:ext cx="3143250" cy="4953000"/>
          </a:xfrm>
          <a:prstGeom prst="roundRect">
            <a:avLst>
              <a:gd name="adj" fmla="val 4848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2AA4F7BC-3B35-4923-8878-E877ED6F637B}"/>
              </a:ext>
            </a:extLst>
          </p:cNvPr>
          <p:cNvSpPr>
            <a:spLocks noGrp="1"/>
          </p:cNvSpPr>
          <p:nvPr/>
        </p:nvSpPr>
        <p:spPr>
          <a:xfrm>
            <a:off x="8743950" y="13811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5EE089B3-6BAB-40C4-A76A-19426DF862A5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533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550">
                <a:solidFill>
                  <a:srgbClr val="93C5F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1BC021C3-CA91-4A95-AB1B-E14A08AE753F}"/>
              </a:ext>
            </a:extLst>
          </p:cNvPr>
          <p:cNvSpPr>
            <a:spLocks noGrp="1"/>
          </p:cNvSpPr>
          <p:nvPr/>
        </p:nvSpPr>
        <p:spPr>
          <a:xfrm>
            <a:off x="8743950" y="2905125"/>
            <a:ext cx="209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BUSCA</a:t>
            </a:r>
          </a:p>
          <a:p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HÍBRIDA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C25E3EF8-1543-4323-9944-9A0B4E992F12}"/>
              </a:ext>
            </a:extLst>
          </p:cNvPr>
          <p:cNvSpPr>
            <a:spLocks noGrp="1"/>
          </p:cNvSpPr>
          <p:nvPr/>
        </p:nvSpPr>
        <p:spPr>
          <a:xfrm>
            <a:off x="9525000" y="3914775"/>
            <a:ext cx="533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550">
                <a:solidFill>
                  <a:srgbClr val="93C5F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7155F748-A3ED-4163-8201-572B99FB4B89}"/>
              </a:ext>
            </a:extLst>
          </p:cNvPr>
          <p:cNvSpPr>
            <a:spLocks noGrp="1"/>
          </p:cNvSpPr>
          <p:nvPr/>
        </p:nvSpPr>
        <p:spPr>
          <a:xfrm>
            <a:off x="8743950" y="45339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RESPOSTA</a:t>
            </a:r>
          </a:p>
          <a:p>
            <a:pPr algn="ctr">
              <a:defRPr sz="21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+ FONTE</a:t>
            </a:r>
          </a:p>
        </p:txBody>
      </p:sp>
    </p:spTree>
    <p:extLst>
      <p:ext uri="{BB962C8B-B14F-4D97-AF65-F5344CB8AC3E}">
        <p14:creationId xmlns:p14="http://schemas.microsoft.com/office/powerpoint/2010/main" xmlns="" val="118523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xmlns="" id="{7BEC98A9-B00F-45C6-B8DF-37201A9161F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EQUIPE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31F0F2C9-437B-41AE-8D4F-9D8695636CB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Responsabilidades distribuídas do dado à avaliação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70BB1099-74C3-4813-863F-9866896DB14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59DF9E5D-5D29-49DF-B4DF-2973F44641E9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674EAAE9-63FD-49BB-8C1F-92103164960B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972800" cy="66675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0FA5644E-C733-46F3-A183-0F6996FB34DB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8C73E03F-D273-47AC-9C48-DE039F54F79E}"/>
              </a:ext>
            </a:extLst>
          </p:cNvPr>
          <p:cNvSpPr>
            <a:spLocks noGrp="1"/>
          </p:cNvSpPr>
          <p:nvPr/>
        </p:nvSpPr>
        <p:spPr>
          <a:xfrm>
            <a:off x="1428750" y="18859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Danielle Magalhães Ballester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09FA6C73-D081-49E4-9341-467888F5F7D2}"/>
              </a:ext>
            </a:extLst>
          </p:cNvPr>
          <p:cNvSpPr>
            <a:spLocks noGrp="1"/>
          </p:cNvSpPr>
          <p:nvPr/>
        </p:nvSpPr>
        <p:spPr>
          <a:xfrm>
            <a:off x="5619750" y="19050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Liderança, documentação e apresentação</a:t>
            </a:r>
          </a:p>
        </p:txBody>
      </p:sp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xmlns="" id="{009D6C36-EE50-47B2-B1F3-450577CFFD8A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66675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EF02BC0D-919F-4C93-8A87-296D5D796B2B}"/>
              </a:ext>
            </a:extLst>
          </p:cNvPr>
          <p:cNvSpPr>
            <a:spLocks noGrp="1"/>
          </p:cNvSpPr>
          <p:nvPr/>
        </p:nvSpPr>
        <p:spPr>
          <a:xfrm>
            <a:off x="819150" y="27622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FADFBC53-2BEF-48C0-B01A-03B9E8B1DECB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Carol Anely Miranda Guzman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C2AD7095-DF2F-449D-9433-E882FECB0BBE}"/>
              </a:ext>
            </a:extLst>
          </p:cNvPr>
          <p:cNvSpPr>
            <a:spLocks noGrp="1"/>
          </p:cNvSpPr>
          <p:nvPr/>
        </p:nvSpPr>
        <p:spPr>
          <a:xfrm>
            <a:off x="5619750" y="27432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Dados e qualidade da amostra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73773828-84B6-4168-9D29-3AB51E1C59DE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66675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3B79438E-A38C-4B38-9F2A-9F270367733E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19F5888D-5B9D-429B-BCE7-58BF8F28C072}"/>
              </a:ext>
            </a:extLst>
          </p:cNvPr>
          <p:cNvSpPr>
            <a:spLocks noGrp="1"/>
          </p:cNvSpPr>
          <p:nvPr/>
        </p:nvSpPr>
        <p:spPr>
          <a:xfrm>
            <a:off x="1428750" y="35623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André Joás Lima de Araújo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9758BC95-4E7C-41F8-9272-17935CED2EFF}"/>
              </a:ext>
            </a:extLst>
          </p:cNvPr>
          <p:cNvSpPr>
            <a:spLocks noGrp="1"/>
          </p:cNvSpPr>
          <p:nvPr/>
        </p:nvSpPr>
        <p:spPr>
          <a:xfrm>
            <a:off x="5619750" y="35814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Engenharia, modelagem e pipeline RAG</a:t>
            </a:r>
          </a:p>
        </p:txBody>
      </p:sp>
      <p:sp>
        <p:nvSpPr>
          <p:cNvPr id="17" name="Retângulo de cantos arredondados 16">
            <a:extLst>
              <a:ext uri="{FF2B5EF4-FFF2-40B4-BE49-F238E27FC236}">
                <a16:creationId xmlns:a16="http://schemas.microsoft.com/office/drawing/2014/main" xmlns="" id="{75CD48A1-F27F-43D9-9619-2CD11C24D41B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0972800" cy="66675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62696148-86AC-4442-A467-A5177C384369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9BDEAB3C-8655-429F-808E-8FFB8FA5BBA6}"/>
              </a:ext>
            </a:extLst>
          </p:cNvPr>
          <p:cNvSpPr>
            <a:spLocks noGrp="1"/>
          </p:cNvSpPr>
          <p:nvPr/>
        </p:nvSpPr>
        <p:spPr>
          <a:xfrm>
            <a:off x="1428750" y="44005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David Damasceno da Frota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0D6DD741-2963-4730-8E0A-353B3FBAD203}"/>
              </a:ext>
            </a:extLst>
          </p:cNvPr>
          <p:cNvSpPr>
            <a:spLocks noGrp="1"/>
          </p:cNvSpPr>
          <p:nvPr/>
        </p:nvSpPr>
        <p:spPr>
          <a:xfrm>
            <a:off x="5619750" y="44196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Benchmark, métricas e análise de erros</a:t>
            </a:r>
          </a:p>
        </p:txBody>
      </p:sp>
      <p:sp>
        <p:nvSpPr>
          <p:cNvPr id="21" name="Retângulo de cantos arredondados 20">
            <a:extLst>
              <a:ext uri="{FF2B5EF4-FFF2-40B4-BE49-F238E27FC236}">
                <a16:creationId xmlns:a16="http://schemas.microsoft.com/office/drawing/2014/main" xmlns="" id="{1F7FF1FF-FD1C-4479-B9F7-7A979A5FF251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72800" cy="66675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E79DF6BD-CC85-4EB3-8D6F-030F4820ABDE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C642CD2F-C0B4-4778-A3D7-F86E152AD059}"/>
              </a:ext>
            </a:extLst>
          </p:cNvPr>
          <p:cNvSpPr>
            <a:spLocks noGrp="1"/>
          </p:cNvSpPr>
          <p:nvPr/>
        </p:nvSpPr>
        <p:spPr>
          <a:xfrm>
            <a:off x="1428750" y="52387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Raylson Silva de Lima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EFA12DE8-79EC-44EC-9BB1-351505849622}"/>
              </a:ext>
            </a:extLst>
          </p:cNvPr>
          <p:cNvSpPr>
            <a:spLocks noGrp="1"/>
          </p:cNvSpPr>
          <p:nvPr/>
        </p:nvSpPr>
        <p:spPr>
          <a:xfrm>
            <a:off x="5619750" y="52578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Ambiente, testes e reprodutibilidade</a:t>
            </a:r>
          </a:p>
        </p:txBody>
      </p:sp>
    </p:spTree>
    <p:extLst>
      <p:ext uri="{BB962C8B-B14F-4D97-AF65-F5344CB8AC3E}">
        <p14:creationId xmlns:p14="http://schemas.microsoft.com/office/powerpoint/2010/main" xmlns="" val="143573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206BBC6A-F652-4D53-A8D4-F60249346A7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1AEE6151-CFFB-4BDE-93ED-47CD05A0DC9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87126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Editais</a:t>
            </a: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concentram</a:t>
            </a: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decisões</a:t>
            </a: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críticas</a:t>
            </a: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em</a:t>
            </a: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centenas</a:t>
            </a: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8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páginas</a:t>
            </a:r>
            <a:endParaRPr sz="28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89B9436F-D41B-4308-8421-43F9E11E041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185ABDF5-A7A1-4FE7-BA1E-C6823BEB1F56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5FA6AAD9-70BB-41AF-9D97-8452BCB3F79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823BB081-7A94-4404-BF9A-165AA056C8D6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D5343672-4295-48C7-98E6-BC44C6746862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Fragmentação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F88B23E4-06CC-4129-ABDB-2BD7A78F28F0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28956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Objeto, modalidade, valor e prazos aparecem em seções, anexos e tabelas diferentes.</a:t>
            </a:r>
          </a:p>
        </p:txBody>
      </p:sp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xmlns="" id="{953B00F1-828A-474A-B324-FC39E81A0944}"/>
              </a:ext>
            </a:extLst>
          </p:cNvPr>
          <p:cNvSpPr>
            <a:spLocks noGrp="1"/>
          </p:cNvSpPr>
          <p:nvPr/>
        </p:nvSpPr>
        <p:spPr>
          <a:xfrm>
            <a:off x="4324350" y="1952625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14D67E19-84B7-4FF5-ABEE-477BDC3EC858}"/>
              </a:ext>
            </a:extLst>
          </p:cNvPr>
          <p:cNvSpPr>
            <a:spLocks noGrp="1"/>
          </p:cNvSpPr>
          <p:nvPr/>
        </p:nvSpPr>
        <p:spPr>
          <a:xfrm>
            <a:off x="4572000" y="220980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0A90F22C-C919-48AD-B463-FC7B1EBE8EDD}"/>
              </a:ext>
            </a:extLst>
          </p:cNvPr>
          <p:cNvSpPr>
            <a:spLocks noGrp="1"/>
          </p:cNvSpPr>
          <p:nvPr/>
        </p:nvSpPr>
        <p:spPr>
          <a:xfrm>
            <a:off x="4572000" y="28098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Risco semântico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C79DC82F-4460-4715-912D-63249E9C67CB}"/>
              </a:ext>
            </a:extLst>
          </p:cNvPr>
          <p:cNvSpPr>
            <a:spLocks noGrp="1"/>
          </p:cNvSpPr>
          <p:nvPr/>
        </p:nvSpPr>
        <p:spPr>
          <a:xfrm>
            <a:off x="4572000" y="3476625"/>
            <a:ext cx="28956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BD5E1"/>
                </a:solidFill>
                <a:latin typeface="Aptos"/>
                <a:ea typeface="Aptos"/>
                <a:cs typeface="Aptos"/>
              </a:rPr>
              <a:t>A palavra “prazo” pode significar entrega, execução, pagamento, vigência ou assinatura.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65B68A0F-AFE6-4B48-AF32-D84FB5D20057}"/>
              </a:ext>
            </a:extLst>
          </p:cNvPr>
          <p:cNvSpPr>
            <a:spLocks noGrp="1"/>
          </p:cNvSpPr>
          <p:nvPr/>
        </p:nvSpPr>
        <p:spPr>
          <a:xfrm>
            <a:off x="8039100" y="1952625"/>
            <a:ext cx="3429000" cy="314325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63A318ED-34AA-41B1-B376-66B0D4A2E989}"/>
              </a:ext>
            </a:extLst>
          </p:cNvPr>
          <p:cNvSpPr>
            <a:spLocks noGrp="1"/>
          </p:cNvSpPr>
          <p:nvPr/>
        </p:nvSpPr>
        <p:spPr>
          <a:xfrm>
            <a:off x="8286750" y="220980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A20EA9A5-474F-41E8-AE22-AE8EC1540A0A}"/>
              </a:ext>
            </a:extLst>
          </p:cNvPr>
          <p:cNvSpPr>
            <a:spLocks noGrp="1"/>
          </p:cNvSpPr>
          <p:nvPr/>
        </p:nvSpPr>
        <p:spPr>
          <a:xfrm>
            <a:off x="8286750" y="28098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Auditoria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74C6C478-0D58-4FFC-97C9-B34F8AC07D41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28956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64748B"/>
                </a:solidFill>
                <a:latin typeface="Aptos"/>
                <a:ea typeface="Aptos"/>
                <a:cs typeface="Aptos"/>
              </a:rPr>
              <a:t>Uma resposta útil precisa indicar documento, página e trecho literal que a sustenta.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89197E99-A2FD-47C6-AB36-66B0ECBC0B1A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Objetivo: transformar busca documental em decisão verificável.</a:t>
            </a:r>
          </a:p>
        </p:txBody>
      </p:sp>
    </p:spTree>
    <p:extLst>
      <p:ext uri="{BB962C8B-B14F-4D97-AF65-F5344CB8AC3E}">
        <p14:creationId xmlns:p14="http://schemas.microsoft.com/office/powerpoint/2010/main" xmlns="" val="85472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xmlns="" id="{5711B3BE-EBD4-4561-9157-F57933ABA5D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F098E36C-6E7C-4C4E-B243-3CD1AD93511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Uma consulta guiada por intenção e evidência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32D29495-046F-43CD-BAEC-57CE72BE6EA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694CDD88-8A5E-4552-AD18-FC4195B6F604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56136316-DFB8-40F8-9D2A-44F57D3EDB4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3528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Retângulo de cantos arredondados 5">
            <a:extLst>
              <a:ext uri="{FF2B5EF4-FFF2-40B4-BE49-F238E27FC236}">
                <a16:creationId xmlns:a16="http://schemas.microsoft.com/office/drawing/2014/main" xmlns="" id="{9E84865D-0426-4302-82B4-BB97B56D41DB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50113D51-2D05-4E77-B5FE-D35CE92FF32D}"/>
              </a:ext>
            </a:extLst>
          </p:cNvPr>
          <p:cNvSpPr>
            <a:spLocks noGrp="1"/>
          </p:cNvSpPr>
          <p:nvPr/>
        </p:nvSpPr>
        <p:spPr>
          <a:xfrm>
            <a:off x="971550" y="244792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3FC93FC3-2D70-4563-AAAF-55ADA029228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Indexar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85632630-DEA4-4C3A-A67D-E2F5F688AA7A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Extração PDF/OCR, segmentação e vetorização por documento.</a:t>
            </a:r>
          </a:p>
        </p:txBody>
      </p:sp>
      <p:sp>
        <p:nvSpPr>
          <p:cNvPr id="10" name="Retângulo de cantos arredondados 9">
            <a:extLst>
              <a:ext uri="{FF2B5EF4-FFF2-40B4-BE49-F238E27FC236}">
                <a16:creationId xmlns:a16="http://schemas.microsoft.com/office/drawing/2014/main" xmlns="" id="{EB5FB8EA-2271-47F6-BE25-4231D21F4C4A}"/>
              </a:ext>
            </a:extLst>
          </p:cNvPr>
          <p:cNvSpPr>
            <a:spLocks noGrp="1"/>
          </p:cNvSpPr>
          <p:nvPr/>
        </p:nvSpPr>
        <p:spPr>
          <a:xfrm>
            <a:off x="4324350" y="2095500"/>
            <a:ext cx="33528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tângulo de cantos arredondados 10">
            <a:extLst>
              <a:ext uri="{FF2B5EF4-FFF2-40B4-BE49-F238E27FC236}">
                <a16:creationId xmlns:a16="http://schemas.microsoft.com/office/drawing/2014/main" xmlns="" id="{CFE0E939-F181-4922-B676-703EC28A2DAA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E321A1CA-8AA6-47A6-8D9B-D5D0690F680B}"/>
              </a:ext>
            </a:extLst>
          </p:cNvPr>
          <p:cNvSpPr>
            <a:spLocks noGrp="1"/>
          </p:cNvSpPr>
          <p:nvPr/>
        </p:nvSpPr>
        <p:spPr>
          <a:xfrm>
            <a:off x="4686300" y="244792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94359226-C01B-4F15-ABB2-1713694F3484}"/>
              </a:ext>
            </a:extLst>
          </p:cNvPr>
          <p:cNvSpPr>
            <a:spLocks noGrp="1"/>
          </p:cNvSpPr>
          <p:nvPr/>
        </p:nvSpPr>
        <p:spPr>
          <a:xfrm>
            <a:off x="4552950" y="3162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Recuperar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98684DDD-E3AF-47F6-BBCE-E1D8D892919D}"/>
              </a:ext>
            </a:extLst>
          </p:cNvPr>
          <p:cNvSpPr>
            <a:spLocks noGrp="1"/>
          </p:cNvSpPr>
          <p:nvPr/>
        </p:nvSpPr>
        <p:spPr>
          <a:xfrm>
            <a:off x="4552950" y="38100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Busca semântica + lexical, regras por campo e expansão de seção.</a:t>
            </a:r>
          </a:p>
        </p:txBody>
      </p:sp>
      <p:sp>
        <p:nvSpPr>
          <p:cNvPr id="15" name="Retângulo de cantos arredondados 14">
            <a:extLst>
              <a:ext uri="{FF2B5EF4-FFF2-40B4-BE49-F238E27FC236}">
                <a16:creationId xmlns:a16="http://schemas.microsoft.com/office/drawing/2014/main" xmlns="" id="{B75F4505-5E60-45B7-A029-C3B70B8B48E0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33528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Retângulo de cantos arredondados 15">
            <a:extLst>
              <a:ext uri="{FF2B5EF4-FFF2-40B4-BE49-F238E27FC236}">
                <a16:creationId xmlns:a16="http://schemas.microsoft.com/office/drawing/2014/main" xmlns="" id="{2497E669-6C7A-4084-AF22-309F9973F6AF}"/>
              </a:ext>
            </a:extLst>
          </p:cNvPr>
          <p:cNvSpPr>
            <a:spLocks noGrp="1"/>
          </p:cNvSpPr>
          <p:nvPr/>
        </p:nvSpPr>
        <p:spPr>
          <a:xfrm>
            <a:off x="8267700" y="23431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BA582480-C179-4710-AB69-870E96D6405F}"/>
              </a:ext>
            </a:extLst>
          </p:cNvPr>
          <p:cNvSpPr>
            <a:spLocks noGrp="1"/>
          </p:cNvSpPr>
          <p:nvPr/>
        </p:nvSpPr>
        <p:spPr>
          <a:xfrm>
            <a:off x="8401050" y="2447925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54BAC2BF-2787-4070-8C2B-EF568522EBDC}"/>
              </a:ext>
            </a:extLst>
          </p:cNvPr>
          <p:cNvSpPr>
            <a:spLocks noGrp="1"/>
          </p:cNvSpPr>
          <p:nvPr/>
        </p:nvSpPr>
        <p:spPr>
          <a:xfrm>
            <a:off x="8267700" y="316230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4A94879B-C858-4CDF-9725-7D9A77937EF9}"/>
              </a:ext>
            </a:extLst>
          </p:cNvPr>
          <p:cNvSpPr>
            <a:spLocks noGrp="1"/>
          </p:cNvSpPr>
          <p:nvPr/>
        </p:nvSpPr>
        <p:spPr>
          <a:xfrm>
            <a:off x="8267700" y="3810000"/>
            <a:ext cx="28765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LLM estruturado, validação literal e exibição das fontes.</a:t>
            </a:r>
          </a:p>
        </p:txBody>
      </p:sp>
      <p:sp>
        <p:nvSpPr>
          <p:cNvPr id="20" name="Retângulo de cantos arredondados 19">
            <a:extLst>
              <a:ext uri="{FF2B5EF4-FFF2-40B4-BE49-F238E27FC236}">
                <a16:creationId xmlns:a16="http://schemas.microsoft.com/office/drawing/2014/main" xmlns="" id="{45BC3BB6-246F-497E-9466-2B8F8828D5CF}"/>
              </a:ext>
            </a:extLst>
          </p:cNvPr>
          <p:cNvSpPr>
            <a:spLocks noGrp="1"/>
          </p:cNvSpPr>
          <p:nvPr/>
        </p:nvSpPr>
        <p:spPr>
          <a:xfrm>
            <a:off x="2095500" y="5381625"/>
            <a:ext cx="1000125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2B5B3758-EE28-49ED-9DC4-E31A580D2221}"/>
              </a:ext>
            </a:extLst>
          </p:cNvPr>
          <p:cNvSpPr>
            <a:spLocks noGrp="1"/>
          </p:cNvSpPr>
          <p:nvPr/>
        </p:nvSpPr>
        <p:spPr>
          <a:xfrm>
            <a:off x="2190750" y="5429250"/>
            <a:ext cx="809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objeto</a:t>
            </a:r>
          </a:p>
        </p:txBody>
      </p:sp>
      <p:sp>
        <p:nvSpPr>
          <p:cNvPr id="22" name="Retângulo de cantos arredondados 21">
            <a:extLst>
              <a:ext uri="{FF2B5EF4-FFF2-40B4-BE49-F238E27FC236}">
                <a16:creationId xmlns:a16="http://schemas.microsoft.com/office/drawing/2014/main" xmlns="" id="{06502F45-028C-4F6A-B4E7-21E8A6A0723C}"/>
              </a:ext>
            </a:extLst>
          </p:cNvPr>
          <p:cNvSpPr>
            <a:spLocks noGrp="1"/>
          </p:cNvSpPr>
          <p:nvPr/>
        </p:nvSpPr>
        <p:spPr>
          <a:xfrm>
            <a:off x="3219450" y="5381625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BE150709-9EFB-436B-BA58-26124334D171}"/>
              </a:ext>
            </a:extLst>
          </p:cNvPr>
          <p:cNvSpPr>
            <a:spLocks noGrp="1"/>
          </p:cNvSpPr>
          <p:nvPr/>
        </p:nvSpPr>
        <p:spPr>
          <a:xfrm>
            <a:off x="3314700" y="54292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modalidade</a:t>
            </a:r>
          </a:p>
        </p:txBody>
      </p:sp>
      <p:sp>
        <p:nvSpPr>
          <p:cNvPr id="24" name="Retângulo de cantos arredondados 23">
            <a:extLst>
              <a:ext uri="{FF2B5EF4-FFF2-40B4-BE49-F238E27FC236}">
                <a16:creationId xmlns:a16="http://schemas.microsoft.com/office/drawing/2014/main" xmlns="" id="{A63A68CF-08D0-409F-ABC6-DF0E72EF0E8C}"/>
              </a:ext>
            </a:extLst>
          </p:cNvPr>
          <p:cNvSpPr>
            <a:spLocks noGrp="1"/>
          </p:cNvSpPr>
          <p:nvPr/>
        </p:nvSpPr>
        <p:spPr>
          <a:xfrm>
            <a:off x="4600575" y="5381625"/>
            <a:ext cx="904875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xmlns="" id="{8D3EBE77-4FA0-4A26-8D75-D2FC235927F2}"/>
              </a:ext>
            </a:extLst>
          </p:cNvPr>
          <p:cNvSpPr>
            <a:spLocks noGrp="1"/>
          </p:cNvSpPr>
          <p:nvPr/>
        </p:nvSpPr>
        <p:spPr>
          <a:xfrm>
            <a:off x="4695825" y="5429250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valor</a:t>
            </a:r>
          </a:p>
        </p:txBody>
      </p:sp>
      <p:sp>
        <p:nvSpPr>
          <p:cNvPr id="26" name="Retângulo de cantos arredondados 25">
            <a:extLst>
              <a:ext uri="{FF2B5EF4-FFF2-40B4-BE49-F238E27FC236}">
                <a16:creationId xmlns:a16="http://schemas.microsoft.com/office/drawing/2014/main" xmlns="" id="{3E18C9EC-2BF4-4856-8F51-BF18DF8D1294}"/>
              </a:ext>
            </a:extLst>
          </p:cNvPr>
          <p:cNvSpPr>
            <a:spLocks noGrp="1"/>
          </p:cNvSpPr>
          <p:nvPr/>
        </p:nvSpPr>
        <p:spPr>
          <a:xfrm>
            <a:off x="5629275" y="5381625"/>
            <a:ext cx="904875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109469A2-922D-460A-912F-3A2D7C36BC5B}"/>
              </a:ext>
            </a:extLst>
          </p:cNvPr>
          <p:cNvSpPr>
            <a:spLocks noGrp="1"/>
          </p:cNvSpPr>
          <p:nvPr/>
        </p:nvSpPr>
        <p:spPr>
          <a:xfrm>
            <a:off x="5724525" y="5429250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prazo</a:t>
            </a:r>
          </a:p>
        </p:txBody>
      </p:sp>
      <p:sp>
        <p:nvSpPr>
          <p:cNvPr id="28" name="Retângulo de cantos arredondados 27">
            <a:extLst>
              <a:ext uri="{FF2B5EF4-FFF2-40B4-BE49-F238E27FC236}">
                <a16:creationId xmlns:a16="http://schemas.microsoft.com/office/drawing/2014/main" xmlns="" id="{74C59512-ECF3-4334-A0EA-F179F199B85C}"/>
              </a:ext>
            </a:extLst>
          </p:cNvPr>
          <p:cNvSpPr>
            <a:spLocks noGrp="1"/>
          </p:cNvSpPr>
          <p:nvPr/>
        </p:nvSpPr>
        <p:spPr>
          <a:xfrm>
            <a:off x="6657975" y="5381625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xmlns="" id="{C08A7909-5A1F-4677-AC4D-E018A75B2260}"/>
              </a:ext>
            </a:extLst>
          </p:cNvPr>
          <p:cNvSpPr>
            <a:spLocks noGrp="1"/>
          </p:cNvSpPr>
          <p:nvPr/>
        </p:nvSpPr>
        <p:spPr>
          <a:xfrm>
            <a:off x="6753225" y="5429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habilitação + riscos</a:t>
            </a:r>
          </a:p>
        </p:txBody>
      </p:sp>
    </p:spTree>
    <p:extLst>
      <p:ext uri="{BB962C8B-B14F-4D97-AF65-F5344CB8AC3E}">
        <p14:creationId xmlns:p14="http://schemas.microsoft.com/office/powerpoint/2010/main" xmlns="" val="157883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xmlns="" id="{80B11E1E-44EF-4702-9F19-04DC85CE9D3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C94C8735-C362-47C0-B8E0-B6084B135C2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Pipeline ponta a ponta com isolamento por documento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4CA746C6-C346-4863-8F55-338EE843BBB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767EFC82-0644-4E2E-BBB7-E33A720E9547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A75E5992-5914-4BE5-9C3A-C7605259D635}"/>
              </a:ext>
            </a:extLst>
          </p:cNvPr>
          <p:cNvSpPr>
            <a:spLocks noGrp="1"/>
          </p:cNvSpPr>
          <p:nvPr/>
        </p:nvSpPr>
        <p:spPr>
          <a:xfrm>
            <a:off x="51435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CED514B5-1A3A-4A61-A085-ABDDA86E42D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3FBE9C00-AF5B-4809-AACB-CA67427B8984}"/>
              </a:ext>
            </a:extLst>
          </p:cNvPr>
          <p:cNvSpPr>
            <a:spLocks noGrp="1"/>
          </p:cNvSpPr>
          <p:nvPr/>
        </p:nvSpPr>
        <p:spPr>
          <a:xfrm>
            <a:off x="1847850" y="2895600"/>
            <a:ext cx="266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Retângulo de cantos arredondados 7">
            <a:extLst>
              <a:ext uri="{FF2B5EF4-FFF2-40B4-BE49-F238E27FC236}">
                <a16:creationId xmlns:a16="http://schemas.microsoft.com/office/drawing/2014/main" xmlns="" id="{074652C7-E146-407F-9A2E-B62DB70D1E2A}"/>
              </a:ext>
            </a:extLst>
          </p:cNvPr>
          <p:cNvSpPr>
            <a:spLocks noGrp="1"/>
          </p:cNvSpPr>
          <p:nvPr/>
        </p:nvSpPr>
        <p:spPr>
          <a:xfrm>
            <a:off x="213360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73E56CCE-D849-4596-AAFD-01513A400E22}"/>
              </a:ext>
            </a:extLst>
          </p:cNvPr>
          <p:cNvSpPr>
            <a:spLocks noGrp="1"/>
          </p:cNvSpPr>
          <p:nvPr/>
        </p:nvSpPr>
        <p:spPr>
          <a:xfrm>
            <a:off x="222885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PyMuPDF</a:t>
            </a:r>
          </a:p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+ OCR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FF4C0880-3594-4D68-9B23-D250C0DE295F}"/>
              </a:ext>
            </a:extLst>
          </p:cNvPr>
          <p:cNvSpPr>
            <a:spLocks noGrp="1"/>
          </p:cNvSpPr>
          <p:nvPr/>
        </p:nvSpPr>
        <p:spPr>
          <a:xfrm>
            <a:off x="3467100" y="2895600"/>
            <a:ext cx="266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etângulo de cantos arredondados 10">
            <a:extLst>
              <a:ext uri="{FF2B5EF4-FFF2-40B4-BE49-F238E27FC236}">
                <a16:creationId xmlns:a16="http://schemas.microsoft.com/office/drawing/2014/main" xmlns="" id="{62D7E9D8-9B7F-4F52-90E5-F1A36A3E7416}"/>
              </a:ext>
            </a:extLst>
          </p:cNvPr>
          <p:cNvSpPr>
            <a:spLocks noGrp="1"/>
          </p:cNvSpPr>
          <p:nvPr/>
        </p:nvSpPr>
        <p:spPr>
          <a:xfrm>
            <a:off x="375285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B5FBC0E9-99C8-469A-81C8-06230CFA3C34}"/>
              </a:ext>
            </a:extLst>
          </p:cNvPr>
          <p:cNvSpPr>
            <a:spLocks noGrp="1"/>
          </p:cNvSpPr>
          <p:nvPr/>
        </p:nvSpPr>
        <p:spPr>
          <a:xfrm>
            <a:off x="384810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Chunks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8F8A2F1C-34C7-40F8-A13F-78F83D829864}"/>
              </a:ext>
            </a:extLst>
          </p:cNvPr>
          <p:cNvSpPr>
            <a:spLocks noGrp="1"/>
          </p:cNvSpPr>
          <p:nvPr/>
        </p:nvSpPr>
        <p:spPr>
          <a:xfrm>
            <a:off x="5086350" y="2895600"/>
            <a:ext cx="266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etângulo de cantos arredondados 13">
            <a:extLst>
              <a:ext uri="{FF2B5EF4-FFF2-40B4-BE49-F238E27FC236}">
                <a16:creationId xmlns:a16="http://schemas.microsoft.com/office/drawing/2014/main" xmlns="" id="{B2531928-1B28-47FB-8AD8-41DD8321DA02}"/>
              </a:ext>
            </a:extLst>
          </p:cNvPr>
          <p:cNvSpPr>
            <a:spLocks noGrp="1"/>
          </p:cNvSpPr>
          <p:nvPr/>
        </p:nvSpPr>
        <p:spPr>
          <a:xfrm>
            <a:off x="537210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87C2A95A-9498-4CDC-AE25-057CF853FBD5}"/>
              </a:ext>
            </a:extLst>
          </p:cNvPr>
          <p:cNvSpPr>
            <a:spLocks noGrp="1"/>
          </p:cNvSpPr>
          <p:nvPr/>
        </p:nvSpPr>
        <p:spPr>
          <a:xfrm>
            <a:off x="546735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MiniLM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28D5B672-2CBD-43FF-A62C-69C1693521B3}"/>
              </a:ext>
            </a:extLst>
          </p:cNvPr>
          <p:cNvSpPr>
            <a:spLocks noGrp="1"/>
          </p:cNvSpPr>
          <p:nvPr/>
        </p:nvSpPr>
        <p:spPr>
          <a:xfrm>
            <a:off x="6705600" y="2895600"/>
            <a:ext cx="266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tângulo de cantos arredondados 16">
            <a:extLst>
              <a:ext uri="{FF2B5EF4-FFF2-40B4-BE49-F238E27FC236}">
                <a16:creationId xmlns:a16="http://schemas.microsoft.com/office/drawing/2014/main" xmlns="" id="{79AFE693-89E8-45EE-9A2B-146276565310}"/>
              </a:ext>
            </a:extLst>
          </p:cNvPr>
          <p:cNvSpPr>
            <a:spLocks noGrp="1"/>
          </p:cNvSpPr>
          <p:nvPr/>
        </p:nvSpPr>
        <p:spPr>
          <a:xfrm>
            <a:off x="699135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0A5A7F77-6F63-4082-9197-1227ADEEFD50}"/>
              </a:ext>
            </a:extLst>
          </p:cNvPr>
          <p:cNvSpPr>
            <a:spLocks noGrp="1"/>
          </p:cNvSpPr>
          <p:nvPr/>
        </p:nvSpPr>
        <p:spPr>
          <a:xfrm>
            <a:off x="708660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FAISS</a:t>
            </a:r>
          </a:p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híbrido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9844C346-144B-448A-9DA5-C2DB9355B381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266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etângulo de cantos arredondados 19">
            <a:extLst>
              <a:ext uri="{FF2B5EF4-FFF2-40B4-BE49-F238E27FC236}">
                <a16:creationId xmlns:a16="http://schemas.microsoft.com/office/drawing/2014/main" xmlns="" id="{CA9B4643-4B7D-411A-AE86-26D53D8D4733}"/>
              </a:ext>
            </a:extLst>
          </p:cNvPr>
          <p:cNvSpPr>
            <a:spLocks noGrp="1"/>
          </p:cNvSpPr>
          <p:nvPr/>
        </p:nvSpPr>
        <p:spPr>
          <a:xfrm>
            <a:off x="861060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80BA6A02-30FB-4C79-B6F6-BEE679D8F0E3}"/>
              </a:ext>
            </a:extLst>
          </p:cNvPr>
          <p:cNvSpPr>
            <a:spLocks noGrp="1"/>
          </p:cNvSpPr>
          <p:nvPr/>
        </p:nvSpPr>
        <p:spPr>
          <a:xfrm>
            <a:off x="870585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Groq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3BB73E38-7DFD-4020-81B9-8A13488FFCE9}"/>
              </a:ext>
            </a:extLst>
          </p:cNvPr>
          <p:cNvSpPr>
            <a:spLocks noGrp="1"/>
          </p:cNvSpPr>
          <p:nvPr/>
        </p:nvSpPr>
        <p:spPr>
          <a:xfrm>
            <a:off x="9944100" y="2895600"/>
            <a:ext cx="266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tângulo de cantos arredondados 22">
            <a:extLst>
              <a:ext uri="{FF2B5EF4-FFF2-40B4-BE49-F238E27FC236}">
                <a16:creationId xmlns:a16="http://schemas.microsoft.com/office/drawing/2014/main" xmlns="" id="{36969593-0513-40AF-9095-7F731D3FE7DA}"/>
              </a:ext>
            </a:extLst>
          </p:cNvPr>
          <p:cNvSpPr>
            <a:spLocks noGrp="1"/>
          </p:cNvSpPr>
          <p:nvPr/>
        </p:nvSpPr>
        <p:spPr>
          <a:xfrm>
            <a:off x="10229850" y="2571750"/>
            <a:ext cx="1314450" cy="1066800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43148ECB-AB11-4571-B5FF-3726F8D8DB4C}"/>
              </a:ext>
            </a:extLst>
          </p:cNvPr>
          <p:cNvSpPr>
            <a:spLocks noGrp="1"/>
          </p:cNvSpPr>
          <p:nvPr/>
        </p:nvSpPr>
        <p:spPr>
          <a:xfrm>
            <a:off x="10325100" y="2857500"/>
            <a:ext cx="1123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Resposta</a:t>
            </a:r>
          </a:p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evidência</a:t>
            </a:r>
          </a:p>
        </p:txBody>
      </p:sp>
      <p:sp>
        <p:nvSpPr>
          <p:cNvPr id="25" name="Retângulo de cantos arredondados 24">
            <a:extLst>
              <a:ext uri="{FF2B5EF4-FFF2-40B4-BE49-F238E27FC236}">
                <a16:creationId xmlns:a16="http://schemas.microsoft.com/office/drawing/2014/main" xmlns="" id="{A4DD4C10-FEB7-437B-83FB-693F0860C044}"/>
              </a:ext>
            </a:extLst>
          </p:cNvPr>
          <p:cNvSpPr>
            <a:spLocks noGrp="1"/>
          </p:cNvSpPr>
          <p:nvPr/>
        </p:nvSpPr>
        <p:spPr>
          <a:xfrm>
            <a:off x="2133600" y="4191000"/>
            <a:ext cx="7924800" cy="1095375"/>
          </a:xfrm>
          <a:prstGeom prst="roundRect">
            <a:avLst>
              <a:gd name="adj" fmla="val 10435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xmlns="" id="{276855D5-7CF8-4C18-A6B1-DEEA63E6CB69}"/>
              </a:ext>
            </a:extLst>
          </p:cNvPr>
          <p:cNvSpPr>
            <a:spLocks noGrp="1"/>
          </p:cNvSpPr>
          <p:nvPr/>
        </p:nvSpPr>
        <p:spPr>
          <a:xfrm>
            <a:off x="2400300" y="44196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Regra transversal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xmlns="" id="{C63F3694-6112-4157-A8AB-0D1B2BCF9779}"/>
              </a:ext>
            </a:extLst>
          </p:cNvPr>
          <p:cNvSpPr>
            <a:spLocks noGrp="1"/>
          </p:cNvSpPr>
          <p:nvPr/>
        </p:nvSpPr>
        <p:spPr>
          <a:xfrm>
            <a:off x="4476750" y="4362450"/>
            <a:ext cx="523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resposta só é promovida quando a evidência literal e o contexto semântico são coerentes com o campo consultado.</a:t>
            </a:r>
          </a:p>
        </p:txBody>
      </p:sp>
    </p:spTree>
    <p:extLst>
      <p:ext uri="{BB962C8B-B14F-4D97-AF65-F5344CB8AC3E}">
        <p14:creationId xmlns:p14="http://schemas.microsoft.com/office/powerpoint/2010/main" xmlns="" val="35494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A5D4BED4-9DFD-4611-BD99-F3EAB645D50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DADOS E BENCHMARK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48452704-34ED-4607-AE16-EF9E0030EDA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 corpus operacional ao teste congelado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261C2DC8-8403-4417-8674-4FD64ABF693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45A95ABB-46C5-4B56-9550-17E43DEABF4D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D0B7D30A-8956-4826-B402-05BF27D5394A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381250" cy="137160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E5092E2A-3DEC-4E99-AC01-F80C0B7F6698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B1582F75-27AD-4D0F-93A0-61573AB5788A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PDFs disponíveis na aplicação</a:t>
            </a:r>
          </a:p>
        </p:txBody>
      </p:sp>
      <p:sp>
        <p:nvSpPr>
          <p:cNvPr id="8" name="Retângulo de cantos arredondados 7">
            <a:extLst>
              <a:ext uri="{FF2B5EF4-FFF2-40B4-BE49-F238E27FC236}">
                <a16:creationId xmlns:a16="http://schemas.microsoft.com/office/drawing/2014/main" xmlns="" id="{06EB61F6-1447-4B48-8090-F5AF5AB7CACE}"/>
              </a:ext>
            </a:extLst>
          </p:cNvPr>
          <p:cNvSpPr>
            <a:spLocks noGrp="1"/>
          </p:cNvSpPr>
          <p:nvPr/>
        </p:nvSpPr>
        <p:spPr>
          <a:xfrm>
            <a:off x="3143250" y="1924050"/>
            <a:ext cx="2381250" cy="1371600"/>
          </a:xfrm>
          <a:prstGeom prst="roundRect">
            <a:avLst>
              <a:gd name="adj" fmla="val 8333"/>
            </a:avLst>
          </a:prstGeom>
          <a:solidFill>
            <a:srgbClr val="CFFAFE"/>
          </a:solidFill>
          <a:ln w="9525">
            <a:solidFill>
              <a:srgbClr val="CFFAFE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5F1EEA34-197A-4AB0-BAC9-671E067D1E79}"/>
              </a:ext>
            </a:extLst>
          </p:cNvPr>
          <p:cNvSpPr>
            <a:spLocks noGrp="1"/>
          </p:cNvSpPr>
          <p:nvPr/>
        </p:nvSpPr>
        <p:spPr>
          <a:xfrm>
            <a:off x="3333750" y="21145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1.064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0213FECC-BFE0-4E20-9FF3-244ECC78A571}"/>
              </a:ext>
            </a:extLst>
          </p:cNvPr>
          <p:cNvSpPr>
            <a:spLocks noGrp="1"/>
          </p:cNvSpPr>
          <p:nvPr/>
        </p:nvSpPr>
        <p:spPr>
          <a:xfrm>
            <a:off x="3333750" y="27622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trechos/vetores no índice</a:t>
            </a:r>
          </a:p>
        </p:txBody>
      </p:sp>
      <p:sp>
        <p:nvSpPr>
          <p:cNvPr id="11" name="Retângulo de cantos arredondados 10">
            <a:extLst>
              <a:ext uri="{FF2B5EF4-FFF2-40B4-BE49-F238E27FC236}">
                <a16:creationId xmlns:a16="http://schemas.microsoft.com/office/drawing/2014/main" xmlns="" id="{9759AB68-9C24-40F7-BEA6-E0176B31D8F6}"/>
              </a:ext>
            </a:extLst>
          </p:cNvPr>
          <p:cNvSpPr>
            <a:spLocks noGrp="1"/>
          </p:cNvSpPr>
          <p:nvPr/>
        </p:nvSpPr>
        <p:spPr>
          <a:xfrm>
            <a:off x="5676900" y="1924050"/>
            <a:ext cx="2381250" cy="137160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3AF18895-7F80-49F9-9DF2-C2A5B710F5F4}"/>
              </a:ext>
            </a:extLst>
          </p:cNvPr>
          <p:cNvSpPr>
            <a:spLocks noGrp="1"/>
          </p:cNvSpPr>
          <p:nvPr/>
        </p:nvSpPr>
        <p:spPr>
          <a:xfrm>
            <a:off x="5867400" y="21145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3443D495-AAB1-455B-8623-34027542A676}"/>
              </a:ext>
            </a:extLst>
          </p:cNvPr>
          <p:cNvSpPr>
            <a:spLocks noGrp="1"/>
          </p:cNvSpPr>
          <p:nvPr/>
        </p:nvSpPr>
        <p:spPr>
          <a:xfrm>
            <a:off x="5867400" y="27622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editais no benchmark</a:t>
            </a:r>
          </a:p>
        </p:txBody>
      </p:sp>
      <p:sp>
        <p:nvSpPr>
          <p:cNvPr id="14" name="Retângulo de cantos arredondados 13">
            <a:extLst>
              <a:ext uri="{FF2B5EF4-FFF2-40B4-BE49-F238E27FC236}">
                <a16:creationId xmlns:a16="http://schemas.microsoft.com/office/drawing/2014/main" xmlns="" id="{5D429841-11B5-4F2D-A00A-35C713F192BC}"/>
              </a:ext>
            </a:extLst>
          </p:cNvPr>
          <p:cNvSpPr>
            <a:spLocks noGrp="1"/>
          </p:cNvSpPr>
          <p:nvPr/>
        </p:nvSpPr>
        <p:spPr>
          <a:xfrm>
            <a:off x="8210550" y="1924050"/>
            <a:ext cx="3371850" cy="137160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E7E6275A-E94D-450F-A09F-F8399B904EEF}"/>
              </a:ext>
            </a:extLst>
          </p:cNvPr>
          <p:cNvSpPr>
            <a:spLocks noGrp="1"/>
          </p:cNvSpPr>
          <p:nvPr/>
        </p:nvSpPr>
        <p:spPr>
          <a:xfrm>
            <a:off x="8401050" y="21145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ECE43E10-AA8F-44CB-A058-4C118925DB37}"/>
              </a:ext>
            </a:extLst>
          </p:cNvPr>
          <p:cNvSpPr>
            <a:spLocks noGrp="1"/>
          </p:cNvSpPr>
          <p:nvPr/>
        </p:nvSpPr>
        <p:spPr>
          <a:xfrm>
            <a:off x="8401050" y="2762250"/>
            <a:ext cx="2990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referências humanas validadas</a:t>
            </a:r>
          </a:p>
        </p:txBody>
      </p:sp>
      <p:sp>
        <p:nvSpPr>
          <p:cNvPr id="17" name="Retângulo de cantos arredondados 16">
            <a:extLst>
              <a:ext uri="{FF2B5EF4-FFF2-40B4-BE49-F238E27FC236}">
                <a16:creationId xmlns:a16="http://schemas.microsoft.com/office/drawing/2014/main" xmlns="" id="{3172173F-5F13-4A28-9837-D2799507CB5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61925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05A85426-5678-4BBB-8252-12CEA148BCEC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Protocolo experimental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40133CE5-BB8D-4EAD-B8CF-C2F9025F1E32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7 documentos para desenvolvimento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xmlns="" id="{7A09ABA4-EC2C-4F36-8CE3-205900B15FD0}"/>
              </a:ext>
            </a:extLst>
          </p:cNvPr>
          <p:cNvSpPr>
            <a:spLocks noGrp="1"/>
          </p:cNvSpPr>
          <p:nvPr/>
        </p:nvSpPr>
        <p:spPr>
          <a:xfrm>
            <a:off x="4143375" y="4457700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9991593A-A869-4B89-B205-D6692D87F716}"/>
              </a:ext>
            </a:extLst>
          </p:cNvPr>
          <p:cNvSpPr>
            <a:spLocks noGrp="1"/>
          </p:cNvSpPr>
          <p:nvPr/>
        </p:nvSpPr>
        <p:spPr>
          <a:xfrm>
            <a:off x="4667250" y="44958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configuração escolhida e congelada por hash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2629A152-9807-481B-BE68-26047E9F8E3E}"/>
              </a:ext>
            </a:extLst>
          </p:cNvPr>
          <p:cNvSpPr>
            <a:spLocks noGrp="1"/>
          </p:cNvSpPr>
          <p:nvPr/>
        </p:nvSpPr>
        <p:spPr>
          <a:xfrm>
            <a:off x="8305800" y="4457700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872228C5-6631-40FF-9FA7-06F67AEEA759}"/>
              </a:ext>
            </a:extLst>
          </p:cNvPr>
          <p:cNvSpPr>
            <a:spLocks noGrp="1"/>
          </p:cNvSpPr>
          <p:nvPr/>
        </p:nvSpPr>
        <p:spPr>
          <a:xfrm>
            <a:off x="8763000" y="44005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 documentos / 9 campos no teste</a:t>
            </a:r>
          </a:p>
        </p:txBody>
      </p:sp>
    </p:spTree>
    <p:extLst>
      <p:ext uri="{BB962C8B-B14F-4D97-AF65-F5344CB8AC3E}">
        <p14:creationId xmlns:p14="http://schemas.microsoft.com/office/powerpoint/2010/main" xmlns="" val="110383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2A45548C-FAA6-45D2-84FA-F859F201B71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B2399CB-A337-4D24-8697-6DD950A0CC4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15688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resposta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vem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acompanhada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páginas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fontes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recuperadas</a:t>
            </a:r>
            <a:endParaRPr sz="28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D5595E21-A9DB-4A36-8E46-CF09E0D63791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CAEECDAD-561C-4464-8032-A466C59C616A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tângulo de cantos arredondados 5">
            <a:extLst>
              <a:ext uri="{FF2B5EF4-FFF2-40B4-BE49-F238E27FC236}">
                <a16:creationId xmlns:a16="http://schemas.microsoft.com/office/drawing/2014/main" xmlns="" id="{5F7A73B7-7F7E-4EC9-92A4-C742985ED46A}"/>
              </a:ext>
            </a:extLst>
          </p:cNvPr>
          <p:cNvSpPr>
            <a:spLocks noGrp="1"/>
          </p:cNvSpPr>
          <p:nvPr/>
        </p:nvSpPr>
        <p:spPr>
          <a:xfrm>
            <a:off x="9239250" y="1695450"/>
            <a:ext cx="2343150" cy="4191000"/>
          </a:xfrm>
          <a:prstGeom prst="roundRect">
            <a:avLst>
              <a:gd name="adj" fmla="val 4878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8131AAE6-003A-4D42-8CDC-A6689A0ED65F}"/>
              </a:ext>
            </a:extLst>
          </p:cNvPr>
          <p:cNvSpPr>
            <a:spLocks noGrp="1"/>
          </p:cNvSpPr>
          <p:nvPr/>
        </p:nvSpPr>
        <p:spPr>
          <a:xfrm>
            <a:off x="9467850" y="2000250"/>
            <a:ext cx="1885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usuário confere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A3FF5DC0-76B8-4E65-9971-14C4AF307FF7}"/>
              </a:ext>
            </a:extLst>
          </p:cNvPr>
          <p:cNvSpPr>
            <a:spLocks noGrp="1"/>
          </p:cNvSpPr>
          <p:nvPr/>
        </p:nvSpPr>
        <p:spPr>
          <a:xfrm>
            <a:off x="9467850" y="28003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444A28BF-F077-45A2-9A42-67130EDD3E24}"/>
              </a:ext>
            </a:extLst>
          </p:cNvPr>
          <p:cNvSpPr>
            <a:spLocks noGrp="1"/>
          </p:cNvSpPr>
          <p:nvPr/>
        </p:nvSpPr>
        <p:spPr>
          <a:xfrm>
            <a:off x="9829800" y="28194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documento ativo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179DD9C0-7C63-412B-B4B7-EFD19CBE1E94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C42267D9-6487-4F19-8A90-29D33ECB8618}"/>
              </a:ext>
            </a:extLst>
          </p:cNvPr>
          <p:cNvSpPr>
            <a:spLocks noGrp="1"/>
          </p:cNvSpPr>
          <p:nvPr/>
        </p:nvSpPr>
        <p:spPr>
          <a:xfrm>
            <a:off x="9829800" y="33528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páginas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F3DB70E8-2034-4062-B501-1027B0092094}"/>
              </a:ext>
            </a:extLst>
          </p:cNvPr>
          <p:cNvSpPr>
            <a:spLocks noGrp="1"/>
          </p:cNvSpPr>
          <p:nvPr/>
        </p:nvSpPr>
        <p:spPr>
          <a:xfrm>
            <a:off x="9467850" y="38671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8F158BA6-C41D-4FE0-BDA7-0964F19F3EEE}"/>
              </a:ext>
            </a:extLst>
          </p:cNvPr>
          <p:cNvSpPr>
            <a:spLocks noGrp="1"/>
          </p:cNvSpPr>
          <p:nvPr/>
        </p:nvSpPr>
        <p:spPr>
          <a:xfrm>
            <a:off x="9829800" y="38862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trecho literal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945BF35C-E48C-4E26-B774-0ED5672AF2B8}"/>
              </a:ext>
            </a:extLst>
          </p:cNvPr>
          <p:cNvSpPr>
            <a:spLocks noGrp="1"/>
          </p:cNvSpPr>
          <p:nvPr/>
        </p:nvSpPr>
        <p:spPr>
          <a:xfrm>
            <a:off x="9467850" y="44005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90EC0E7E-345A-465B-AC21-A6851CAC1278}"/>
              </a:ext>
            </a:extLst>
          </p:cNvPr>
          <p:cNvSpPr>
            <a:spLocks noGrp="1"/>
          </p:cNvSpPr>
          <p:nvPr/>
        </p:nvSpPr>
        <p:spPr>
          <a:xfrm>
            <a:off x="9829800" y="44196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latência e tokens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7BA37330-7D37-4B01-AA42-9EA876633496}"/>
              </a:ext>
            </a:extLst>
          </p:cNvPr>
          <p:cNvSpPr>
            <a:spLocks noGrp="1"/>
          </p:cNvSpPr>
          <p:nvPr/>
        </p:nvSpPr>
        <p:spPr>
          <a:xfrm>
            <a:off x="9467850" y="49339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C4B5FF64-616F-425A-AEA9-3A430B649263}"/>
              </a:ext>
            </a:extLst>
          </p:cNvPr>
          <p:cNvSpPr>
            <a:spLocks noGrp="1"/>
          </p:cNvSpPr>
          <p:nvPr/>
        </p:nvSpPr>
        <p:spPr>
          <a:xfrm>
            <a:off x="9829800" y="49530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da evidência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0961" y="1571613"/>
            <a:ext cx="8643998" cy="4857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2702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F685B32A-A588-4EDA-A54F-D7F3CE1FCF5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FBC9943-0B37-41A5-B80B-59DD25ED8C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nova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rodada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melhorou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correção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e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cobertura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sem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perder</a:t>
            </a:r>
            <a:r>
              <a:rPr sz="24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24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fidelidade</a:t>
            </a:r>
            <a:endParaRPr sz="24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D24F63E4-9564-4344-BA2F-10CA6726352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1131D17A-073A-4DAF-921A-2BF40C123077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3378CB8F-9D21-4261-8ABE-5B136C566E9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762750" cy="371475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="857250" y="2133600"/>
          <a:ext cx="62865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xmlns="" id="{9D349FF2-B087-40D1-AFE9-E453303FEB66}"/>
              </a:ext>
            </a:extLst>
          </p:cNvPr>
          <p:cNvSpPr>
            <a:spLocks noGrp="1"/>
          </p:cNvSpPr>
          <p:nvPr/>
        </p:nvSpPr>
        <p:spPr>
          <a:xfrm>
            <a:off x="7677150" y="1809750"/>
            <a:ext cx="3905250" cy="137160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ABBAEBD8-3CEF-4D96-A172-1BA47BCDDE1C}"/>
              </a:ext>
            </a:extLst>
          </p:cNvPr>
          <p:cNvSpPr>
            <a:spLocks noGrp="1"/>
          </p:cNvSpPr>
          <p:nvPr/>
        </p:nvSpPr>
        <p:spPr>
          <a:xfrm>
            <a:off x="7867650" y="200025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1,000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2A70E014-7F09-4C50-B16F-4C8DA88A6D73}"/>
              </a:ext>
            </a:extLst>
          </p:cNvPr>
          <p:cNvSpPr>
            <a:spLocks noGrp="1"/>
          </p:cNvSpPr>
          <p:nvPr/>
        </p:nvSpPr>
        <p:spPr>
          <a:xfrm>
            <a:off x="7867650" y="26479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Faithfulness</a:t>
            </a:r>
          </a:p>
        </p:txBody>
      </p:sp>
      <p:sp>
        <p:nvSpPr>
          <p:cNvPr id="10" name="Retângulo de cantos arredondados 9">
            <a:extLst>
              <a:ext uri="{FF2B5EF4-FFF2-40B4-BE49-F238E27FC236}">
                <a16:creationId xmlns:a16="http://schemas.microsoft.com/office/drawing/2014/main" xmlns="" id="{5C5FDCCB-0056-4037-8DEE-8B4AB53D6456}"/>
              </a:ext>
            </a:extLst>
          </p:cNvPr>
          <p:cNvSpPr>
            <a:spLocks noGrp="1"/>
          </p:cNvSpPr>
          <p:nvPr/>
        </p:nvSpPr>
        <p:spPr>
          <a:xfrm>
            <a:off x="7677150" y="3333750"/>
            <a:ext cx="3905250" cy="137160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11C2B2DF-29E8-4D9F-A317-51F219766DA5}"/>
              </a:ext>
            </a:extLst>
          </p:cNvPr>
          <p:cNvSpPr>
            <a:spLocks noGrp="1"/>
          </p:cNvSpPr>
          <p:nvPr/>
        </p:nvSpPr>
        <p:spPr>
          <a:xfrm>
            <a:off x="7867650" y="352425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0,9578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8AE0323D-4F03-42F3-8776-3128D8FF2177}"/>
              </a:ext>
            </a:extLst>
          </p:cNvPr>
          <p:cNvSpPr>
            <a:spLocks noGrp="1"/>
          </p:cNvSpPr>
          <p:nvPr/>
        </p:nvSpPr>
        <p:spPr>
          <a:xfrm>
            <a:off x="7867650" y="417195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 Correctness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4D77AF9B-9511-47DA-888C-46632186F9CD}"/>
              </a:ext>
            </a:extLst>
          </p:cNvPr>
          <p:cNvSpPr>
            <a:spLocks noGrp="1"/>
          </p:cNvSpPr>
          <p:nvPr/>
        </p:nvSpPr>
        <p:spPr>
          <a:xfrm>
            <a:off x="7677150" y="4857750"/>
            <a:ext cx="3905250" cy="666750"/>
          </a:xfrm>
          <a:prstGeom prst="roundRect">
            <a:avLst>
              <a:gd name="adj" fmla="val 1714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B8054475-8134-4853-8D45-6459FA42CFD1}"/>
              </a:ext>
            </a:extLst>
          </p:cNvPr>
          <p:cNvSpPr>
            <a:spLocks noGrp="1"/>
          </p:cNvSpPr>
          <p:nvPr/>
        </p:nvSpPr>
        <p:spPr>
          <a:xfrm>
            <a:off x="7924800" y="5057775"/>
            <a:ext cx="3371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Cobertura: 3/9 campos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0F5D5053-7D32-4012-86D0-FBA2724FF7BB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733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64748B"/>
                </a:solidFill>
                <a:latin typeface="Aptos"/>
                <a:ea typeface="Aptos"/>
                <a:cs typeface="Aptos"/>
              </a:rPr>
              <a:t>Métricas RAGAS calculadas apenas nas respostas existentes.</a:t>
            </a:r>
          </a:p>
        </p:txBody>
      </p:sp>
    </p:spTree>
    <p:extLst>
      <p:ext uri="{BB962C8B-B14F-4D97-AF65-F5344CB8AC3E}">
        <p14:creationId xmlns:p14="http://schemas.microsoft.com/office/powerpoint/2010/main" xmlns="" val="169640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BC1D97A4-80D6-47F5-868E-A103B91974F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MÉTRICA CORRIGIDA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6A3470D0-8CF8-4468-8690-01D95A1DD21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Diferença textual não é sinônimo de alucinação factual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2399B485-C520-4FF7-8A2C-435E0E0EF69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C32F15CA-E1F3-4E94-A27E-869A65106545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078D1883-D0C1-4D5B-934B-DF9F5C00D38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143500" cy="3238500"/>
          </a:xfrm>
          <a:prstGeom prst="roundRect">
            <a:avLst>
              <a:gd name="adj" fmla="val 3529"/>
            </a:avLst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09041587-D943-434D-ADEF-CC2BBB95E318}"/>
              </a:ext>
            </a:extLst>
          </p:cNvPr>
          <p:cNvSpPr>
            <a:spLocks noGrp="1"/>
          </p:cNvSpPr>
          <p:nvPr/>
        </p:nvSpPr>
        <p:spPr>
          <a:xfrm>
            <a:off x="895350" y="2247900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19B262D4-C6BA-4053-8348-43253F9AC86A}"/>
              </a:ext>
            </a:extLst>
          </p:cNvPr>
          <p:cNvSpPr>
            <a:spLocks noGrp="1"/>
          </p:cNvSpPr>
          <p:nvPr/>
        </p:nvSpPr>
        <p:spPr>
          <a:xfrm>
            <a:off x="895350" y="31432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UNSUPPORTED CLAIM RATE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C5CEC607-6435-4689-99B8-5FC6AEF197F8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4191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827"/>
                </a:solidFill>
                <a:latin typeface="Aptos"/>
                <a:ea typeface="Aptos"/>
                <a:cs typeface="Aptos"/>
              </a:rPr>
              <a:t>Afirmações sem suporte documental entre os campos respondidos.</a:t>
            </a:r>
          </a:p>
        </p:txBody>
      </p:sp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xmlns="" id="{7C9C79E7-974E-44B3-AD8A-B14D8551C870}"/>
              </a:ext>
            </a:extLst>
          </p:cNvPr>
          <p:cNvSpPr>
            <a:spLocks noGrp="1"/>
          </p:cNvSpPr>
          <p:nvPr/>
        </p:nvSpPr>
        <p:spPr>
          <a:xfrm>
            <a:off x="6076950" y="1952625"/>
            <a:ext cx="5505450" cy="3238500"/>
          </a:xfrm>
          <a:prstGeom prst="roundRect">
            <a:avLst>
              <a:gd name="adj" fmla="val 3529"/>
            </a:avLst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AA78E325-323D-4AED-829A-D63CF8072B38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238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66,7%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64073782-4A8B-43AC-A024-68A51DFD747E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REFERENCE MISMATCH RATE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4D5175EA-3548-4ADD-8B71-1A5AA042A240}"/>
              </a:ext>
            </a:extLst>
          </p:cNvPr>
          <p:cNvSpPr>
            <a:spLocks noGrp="1"/>
          </p:cNvSpPr>
          <p:nvPr/>
        </p:nvSpPr>
        <p:spPr>
          <a:xfrm>
            <a:off x="6381750" y="3714750"/>
            <a:ext cx="4476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11827"/>
                </a:solidFill>
                <a:latin typeface="Aptos"/>
                <a:ea typeface="Aptos"/>
                <a:cs typeface="Aptos"/>
              </a:rPr>
              <a:t>Divergência literal em relação ao gabarito — mesmo com evidência válida.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xmlns="" id="{60BAD09D-1E01-4305-B8E3-A845EF932EF6}"/>
              </a:ext>
            </a:extLst>
          </p:cNvPr>
          <p:cNvSpPr>
            <a:spLocks noGrp="1"/>
          </p:cNvSpPr>
          <p:nvPr/>
        </p:nvSpPr>
        <p:spPr>
          <a:xfrm>
            <a:off x="1885950" y="5524500"/>
            <a:ext cx="2571750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914F7601-5F3A-49AB-8B01-3D6337E788E0}"/>
              </a:ext>
            </a:extLst>
          </p:cNvPr>
          <p:cNvSpPr>
            <a:spLocks noGrp="1"/>
          </p:cNvSpPr>
          <p:nvPr/>
        </p:nvSpPr>
        <p:spPr>
          <a:xfrm>
            <a:off x="1981200" y="55721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Leilão × leilão eletrônico</a:t>
            </a:r>
          </a:p>
        </p:txBody>
      </p:sp>
      <p:sp>
        <p:nvSpPr>
          <p:cNvPr id="15" name="Retângulo de cantos arredondados 14">
            <a:extLst>
              <a:ext uri="{FF2B5EF4-FFF2-40B4-BE49-F238E27FC236}">
                <a16:creationId xmlns:a16="http://schemas.microsoft.com/office/drawing/2014/main" xmlns="" id="{4D237164-589D-4288-8A1F-8B9FED1CB79C}"/>
              </a:ext>
            </a:extLst>
          </p:cNvPr>
          <p:cNvSpPr>
            <a:spLocks noGrp="1"/>
          </p:cNvSpPr>
          <p:nvPr/>
        </p:nvSpPr>
        <p:spPr>
          <a:xfrm>
            <a:off x="4648200" y="5524500"/>
            <a:ext cx="4143375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16ED651C-34A5-41E7-84AA-2C6ED2A41E42}"/>
              </a:ext>
            </a:extLst>
          </p:cNvPr>
          <p:cNvSpPr>
            <a:spLocks noGrp="1"/>
          </p:cNvSpPr>
          <p:nvPr/>
        </p:nvSpPr>
        <p:spPr>
          <a:xfrm>
            <a:off x="4743450" y="5572125"/>
            <a:ext cx="3952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Procedimento: Credenciamento × credenciamento</a:t>
            </a:r>
          </a:p>
        </p:txBody>
      </p:sp>
    </p:spTree>
    <p:extLst>
      <p:ext uri="{BB962C8B-B14F-4D97-AF65-F5344CB8AC3E}">
        <p14:creationId xmlns:p14="http://schemas.microsoft.com/office/powerpoint/2010/main" xmlns="" val="76055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76303F7C-D66D-4146-9297-1D4EE30280E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QUALIDADE DE ENGENHARIA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0CCBFDF4-4E22-4BF9-9A7E-A7A0CC184E7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melhoria foi protegida por testes e auditoria de decisões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134AB587-6534-4F4F-AD63-43679CC7746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93B13F19-D628-47B2-AF21-F7FABC3B0C12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Retângulo de cantos arredondados 4">
            <a:extLst>
              <a:ext uri="{FF2B5EF4-FFF2-40B4-BE49-F238E27FC236}">
                <a16:creationId xmlns:a16="http://schemas.microsoft.com/office/drawing/2014/main" xmlns="" id="{A78721F5-25C9-4D39-8AE1-C6F3EA6C68FA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3333750" cy="137160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F2A7D7E1-9006-483B-BE8F-F3A1128A27AC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08AF5FF8-B968-4058-A8EC-E14B6B3145C5}"/>
              </a:ext>
            </a:extLst>
          </p:cNvPr>
          <p:cNvSpPr>
            <a:spLocks noGrp="1"/>
          </p:cNvSpPr>
          <p:nvPr/>
        </p:nvSpPr>
        <p:spPr>
          <a:xfrm>
            <a:off x="800100" y="27908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testes automatizados aprovados</a:t>
            </a:r>
          </a:p>
        </p:txBody>
      </p:sp>
      <p:sp>
        <p:nvSpPr>
          <p:cNvPr id="8" name="Retângulo de cantos arredondados 7">
            <a:extLst>
              <a:ext uri="{FF2B5EF4-FFF2-40B4-BE49-F238E27FC236}">
                <a16:creationId xmlns:a16="http://schemas.microsoft.com/office/drawing/2014/main" xmlns="" id="{E1035F24-1CB7-479D-B853-724F63B9E6F5}"/>
              </a:ext>
            </a:extLst>
          </p:cNvPr>
          <p:cNvSpPr>
            <a:spLocks noGrp="1"/>
          </p:cNvSpPr>
          <p:nvPr/>
        </p:nvSpPr>
        <p:spPr>
          <a:xfrm>
            <a:off x="4095750" y="1952625"/>
            <a:ext cx="3333750" cy="1371600"/>
          </a:xfrm>
          <a:prstGeom prst="roundRect">
            <a:avLst>
              <a:gd name="adj" fmla="val 8333"/>
            </a:avLst>
          </a:prstGeom>
          <a:solidFill>
            <a:srgbClr val="CFFAFE"/>
          </a:solidFill>
          <a:ln w="9525">
            <a:solidFill>
              <a:srgbClr val="CFFAFE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52DD9D98-A298-4555-854C-379A0307E411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171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9065E02B-2EBA-4B6F-8D24-C8BD822698E2}"/>
              </a:ext>
            </a:extLst>
          </p:cNvPr>
          <p:cNvSpPr>
            <a:spLocks noGrp="1"/>
          </p:cNvSpPr>
          <p:nvPr/>
        </p:nvSpPr>
        <p:spPr>
          <a:xfrm>
            <a:off x="4286250" y="27908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decisões RAG auditadas</a:t>
            </a:r>
          </a:p>
        </p:txBody>
      </p:sp>
      <p:sp>
        <p:nvSpPr>
          <p:cNvPr id="11" name="Retângulo de cantos arredondados 10">
            <a:extLst>
              <a:ext uri="{FF2B5EF4-FFF2-40B4-BE49-F238E27FC236}">
                <a16:creationId xmlns:a16="http://schemas.microsoft.com/office/drawing/2014/main" xmlns="" id="{4F1FDA5D-1886-4E62-A971-9FE1E0E25AE6}"/>
              </a:ext>
            </a:extLst>
          </p:cNvPr>
          <p:cNvSpPr>
            <a:spLocks noGrp="1"/>
          </p:cNvSpPr>
          <p:nvPr/>
        </p:nvSpPr>
        <p:spPr>
          <a:xfrm>
            <a:off x="7581900" y="1952625"/>
            <a:ext cx="4000500" cy="1371600"/>
          </a:xfrm>
          <a:prstGeom prst="roundRect">
            <a:avLst>
              <a:gd name="adj" fmla="val 8333"/>
            </a:avLst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3BF97259-C944-4B44-88D2-D9B8C1C231EF}"/>
              </a:ext>
            </a:extLst>
          </p:cNvPr>
          <p:cNvSpPr>
            <a:spLocks noGrp="1"/>
          </p:cNvSpPr>
          <p:nvPr/>
        </p:nvSpPr>
        <p:spPr>
          <a:xfrm>
            <a:off x="7772400" y="2143125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97,66%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8F78A719-C7A7-49A7-9545-8C8EF9A5F11A}"/>
              </a:ext>
            </a:extLst>
          </p:cNvPr>
          <p:cNvSpPr>
            <a:spLocks noGrp="1"/>
          </p:cNvSpPr>
          <p:nvPr/>
        </p:nvSpPr>
        <p:spPr>
          <a:xfrm>
            <a:off x="7772400" y="279082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acerto estrito na auditoria</a:t>
            </a:r>
          </a:p>
        </p:txBody>
      </p:sp>
      <p:sp>
        <p:nvSpPr>
          <p:cNvPr id="14" name="Retângulo de cantos arredondados 13">
            <a:extLst>
              <a:ext uri="{FF2B5EF4-FFF2-40B4-BE49-F238E27FC236}">
                <a16:creationId xmlns:a16="http://schemas.microsoft.com/office/drawing/2014/main" xmlns="" id="{7220C4E3-50EB-47A1-9709-3BAF63740F4A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429000" cy="123825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79BAEE4E-899E-4C3B-BC40-42DB6FBE6BC3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68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B177FA1B-9B96-4CEB-823E-26EF6BB3154D}"/>
              </a:ext>
            </a:extLst>
          </p:cNvPr>
          <p:cNvSpPr>
            <a:spLocks noGrp="1"/>
          </p:cNvSpPr>
          <p:nvPr/>
        </p:nvSpPr>
        <p:spPr>
          <a:xfrm>
            <a:off x="1562100" y="4152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casos não resolvidos</a:t>
            </a:r>
          </a:p>
        </p:txBody>
      </p:sp>
      <p:sp>
        <p:nvSpPr>
          <p:cNvPr id="17" name="Retângulo de cantos arredondados 16">
            <a:extLst>
              <a:ext uri="{FF2B5EF4-FFF2-40B4-BE49-F238E27FC236}">
                <a16:creationId xmlns:a16="http://schemas.microsoft.com/office/drawing/2014/main" xmlns="" id="{7FE7D27C-F4DD-44E4-975B-02C878F1B927}"/>
              </a:ext>
            </a:extLst>
          </p:cNvPr>
          <p:cNvSpPr>
            <a:spLocks noGrp="1"/>
          </p:cNvSpPr>
          <p:nvPr/>
        </p:nvSpPr>
        <p:spPr>
          <a:xfrm>
            <a:off x="4324350" y="3829050"/>
            <a:ext cx="3429000" cy="123825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41880A39-49E0-44FB-BC48-66A38DB2B101}"/>
              </a:ext>
            </a:extLst>
          </p:cNvPr>
          <p:cNvSpPr>
            <a:spLocks noGrp="1"/>
          </p:cNvSpPr>
          <p:nvPr/>
        </p:nvSpPr>
        <p:spPr>
          <a:xfrm>
            <a:off x="4552950" y="4038600"/>
            <a:ext cx="68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8CBD0464-3CC9-4DB9-8384-4714E8C9826D}"/>
              </a:ext>
            </a:extLst>
          </p:cNvPr>
          <p:cNvSpPr>
            <a:spLocks noGrp="1"/>
          </p:cNvSpPr>
          <p:nvPr/>
        </p:nvSpPr>
        <p:spPr>
          <a:xfrm>
            <a:off x="5276850" y="4152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vazamentos entre documentos</a:t>
            </a:r>
          </a:p>
        </p:txBody>
      </p:sp>
      <p:sp>
        <p:nvSpPr>
          <p:cNvPr id="20" name="Retângulo de cantos arredondados 19">
            <a:extLst>
              <a:ext uri="{FF2B5EF4-FFF2-40B4-BE49-F238E27FC236}">
                <a16:creationId xmlns:a16="http://schemas.microsoft.com/office/drawing/2014/main" xmlns="" id="{A339F6C9-B5C7-45E9-A5DC-EAB4EA27D376}"/>
              </a:ext>
            </a:extLst>
          </p:cNvPr>
          <p:cNvSpPr>
            <a:spLocks noGrp="1"/>
          </p:cNvSpPr>
          <p:nvPr/>
        </p:nvSpPr>
        <p:spPr>
          <a:xfrm>
            <a:off x="8039100" y="3829050"/>
            <a:ext cx="3429000" cy="123825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D751EEDE-CC34-440E-97DB-237C0B526119}"/>
              </a:ext>
            </a:extLst>
          </p:cNvPr>
          <p:cNvSpPr>
            <a:spLocks noGrp="1"/>
          </p:cNvSpPr>
          <p:nvPr/>
        </p:nvSpPr>
        <p:spPr>
          <a:xfrm>
            <a:off x="8267700" y="4038600"/>
            <a:ext cx="68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0878628B-1C8D-4404-859D-4499125AC67C}"/>
              </a:ext>
            </a:extLst>
          </p:cNvPr>
          <p:cNvSpPr>
            <a:spLocks noGrp="1"/>
          </p:cNvSpPr>
          <p:nvPr/>
        </p:nvSpPr>
        <p:spPr>
          <a:xfrm>
            <a:off x="8991600" y="4152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erros estritos restantes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38E78D78-CEB0-46E6-BA88-B0CCFB28BC1A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657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4748B"/>
                </a:solidFill>
                <a:latin typeface="Aptos"/>
                <a:ea typeface="Aptos"/>
                <a:cs typeface="Aptos"/>
              </a:rPr>
              <a:t>Execução local após a limpeza: 160 passed, 6 warnings.</a:t>
            </a:r>
          </a:p>
        </p:txBody>
      </p:sp>
    </p:spTree>
    <p:extLst>
      <p:ext uri="{BB962C8B-B14F-4D97-AF65-F5344CB8AC3E}">
        <p14:creationId xmlns:p14="http://schemas.microsoft.com/office/powerpoint/2010/main" xmlns="" val="53194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xmlns="" id="{354B12F9-1012-484D-9640-689A71AD566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LIMITAÇÕES E PRÓXIMOS PASSOS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19EA4BCE-5115-42F4-B511-A8D368FC79F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 núcleo é forte; a evidência experimental ainda precisa crescer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0F40EC6F-C790-4EFD-9E2D-CC055CAF5A1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0A21E5F0-C8C4-4665-AFB3-AC5702D1457E}"/>
              </a:ext>
            </a:extLst>
          </p:cNvPr>
          <p:cNvSpPr>
            <a:spLocks noGrp="1"/>
          </p:cNvSpPr>
          <p:nvPr/>
        </p:nvSpPr>
        <p:spPr>
          <a:xfrm>
            <a:off x="10953750" y="628650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08E6732B-9015-4AD0-A1A7-3EEF2EF48708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LIMITAÇÃO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6C195246-93C7-4864-A34A-EB804492ACCB}"/>
              </a:ext>
            </a:extLst>
          </p:cNvPr>
          <p:cNvSpPr>
            <a:spLocks noGrp="1"/>
          </p:cNvSpPr>
          <p:nvPr/>
        </p:nvSpPr>
        <p:spPr>
          <a:xfrm>
            <a:off x="3571875" y="18097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EVIDÊNCIA ATUAL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0B2BCFFB-B199-418C-BEB2-79A100560B38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PRÓXIMA AÇÃO</a:t>
            </a:r>
          </a:p>
        </p:txBody>
      </p:sp>
      <p:sp>
        <p:nvSpPr>
          <p:cNvPr id="8" name="Retângulo de cantos arredondados 7">
            <a:extLst>
              <a:ext uri="{FF2B5EF4-FFF2-40B4-BE49-F238E27FC236}">
                <a16:creationId xmlns:a16="http://schemas.microsoft.com/office/drawing/2014/main" xmlns="" id="{FBF6929E-C1AB-40BC-9E4F-7C95DEB37E6F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065DE4FE-C9F3-4482-B1AC-1A89791F4CD3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Cobertura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45947451-38CD-4B4F-8B06-6468B1C83CA2}"/>
              </a:ext>
            </a:extLst>
          </p:cNvPr>
          <p:cNvSpPr>
            <a:spLocks noGrp="1"/>
          </p:cNvSpPr>
          <p:nvPr/>
        </p:nvSpPr>
        <p:spPr>
          <a:xfrm>
            <a:off x="3571875" y="23812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33,3% (3/9)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853FF3CE-4DDE-41CC-886C-D2022B042D74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827"/>
                </a:solidFill>
                <a:latin typeface="Aptos"/>
                <a:ea typeface="Aptos"/>
                <a:cs typeface="Aptos"/>
              </a:rPr>
              <a:t>Aprimorar recuperação por campo e seção</a:t>
            </a:r>
          </a:p>
        </p:txBody>
      </p:sp>
      <p:sp>
        <p:nvSpPr>
          <p:cNvPr id="12" name="Retângulo de cantos arredondados 11">
            <a:extLst>
              <a:ext uri="{FF2B5EF4-FFF2-40B4-BE49-F238E27FC236}">
                <a16:creationId xmlns:a16="http://schemas.microsoft.com/office/drawing/2014/main" xmlns="" id="{6D6726F7-909C-40D9-A57D-B0D8368B908A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F274F160-5E32-4DEE-8161-A1C29108ED17}"/>
              </a:ext>
            </a:extLst>
          </p:cNvPr>
          <p:cNvSpPr>
            <a:spLocks noGrp="1"/>
          </p:cNvSpPr>
          <p:nvPr/>
        </p:nvSpPr>
        <p:spPr>
          <a:xfrm>
            <a:off x="800100" y="32575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Amostra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E6496B48-E25D-4801-9140-319E404775AC}"/>
              </a:ext>
            </a:extLst>
          </p:cNvPr>
          <p:cNvSpPr>
            <a:spLocks noGrp="1"/>
          </p:cNvSpPr>
          <p:nvPr/>
        </p:nvSpPr>
        <p:spPr>
          <a:xfrm>
            <a:off x="3571875" y="32575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 documentos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0824AE07-AAE4-49E0-8A13-7F0920EB871D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827"/>
                </a:solidFill>
                <a:latin typeface="Aptos"/>
                <a:ea typeface="Aptos"/>
                <a:cs typeface="Aptos"/>
              </a:rPr>
              <a:t>Criar novo holdout e ampliar o corpus</a:t>
            </a:r>
          </a:p>
        </p:txBody>
      </p:sp>
      <p:sp>
        <p:nvSpPr>
          <p:cNvPr id="16" name="Retângulo de cantos arredondados 15">
            <a:extLst>
              <a:ext uri="{FF2B5EF4-FFF2-40B4-BE49-F238E27FC236}">
                <a16:creationId xmlns:a16="http://schemas.microsoft.com/office/drawing/2014/main" xmlns="" id="{0365B2A2-B0A0-4370-BF4D-3736B52233DD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61925AB1-5217-4C0D-A00E-2BA936465E11}"/>
              </a:ext>
            </a:extLst>
          </p:cNvPr>
          <p:cNvSpPr>
            <a:spLocks noGrp="1"/>
          </p:cNvSpPr>
          <p:nvPr/>
        </p:nvSpPr>
        <p:spPr>
          <a:xfrm>
            <a:off x="800100" y="41338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Métrica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xmlns="" id="{0561AD4F-B4A7-4EAE-8914-4022B5D7E065}"/>
              </a:ext>
            </a:extLst>
          </p:cNvPr>
          <p:cNvSpPr>
            <a:spLocks noGrp="1"/>
          </p:cNvSpPr>
          <p:nvPr/>
        </p:nvSpPr>
        <p:spPr>
          <a:xfrm>
            <a:off x="3571875" y="41338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correção pós-hoc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xmlns="" id="{C234C1DF-6394-4407-ACA2-0D91349DC5B0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827"/>
                </a:solidFill>
                <a:latin typeface="Aptos"/>
                <a:ea typeface="Aptos"/>
                <a:cs typeface="Aptos"/>
              </a:rPr>
              <a:t>Congelar definição antes da próxima rodada</a:t>
            </a:r>
          </a:p>
        </p:txBody>
      </p:sp>
      <p:sp>
        <p:nvSpPr>
          <p:cNvPr id="20" name="Retângulo de cantos arredondados 19">
            <a:extLst>
              <a:ext uri="{FF2B5EF4-FFF2-40B4-BE49-F238E27FC236}">
                <a16:creationId xmlns:a16="http://schemas.microsoft.com/office/drawing/2014/main" xmlns="" id="{769DA93C-ABF1-4865-9E3B-91D1B7CD3178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xmlns="" id="{D0A72784-0465-4F84-9030-5D30F16F0E87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Configuração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xmlns="" id="{E5D0492E-382C-451B-A345-D05C109F8519}"/>
              </a:ext>
            </a:extLst>
          </p:cNvPr>
          <p:cNvSpPr>
            <a:spLocks noGrp="1"/>
          </p:cNvSpPr>
          <p:nvPr/>
        </p:nvSpPr>
        <p:spPr>
          <a:xfrm>
            <a:off x="3571875" y="50101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pipeline experimental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xmlns="" id="{267DB56D-B570-4917-93EE-2354D454834E}"/>
              </a:ext>
            </a:extLst>
          </p:cNvPr>
          <p:cNvSpPr>
            <a:spLocks noGrp="1"/>
          </p:cNvSpPr>
          <p:nvPr/>
        </p:nvSpPr>
        <p:spPr>
          <a:xfrm>
            <a:off x="6858000" y="49911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11827"/>
                </a:solidFill>
                <a:latin typeface="Aptos"/>
                <a:ea typeface="Aptos"/>
                <a:cs typeface="Aptos"/>
              </a:rPr>
              <a:t>Avaliar também o RAG híbrido de produção</a:t>
            </a:r>
          </a:p>
        </p:txBody>
      </p:sp>
    </p:spTree>
    <p:extLst>
      <p:ext uri="{BB962C8B-B14F-4D97-AF65-F5344CB8AC3E}">
        <p14:creationId xmlns:p14="http://schemas.microsoft.com/office/powerpoint/2010/main" xmlns="" val="130000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4209856E-7826-4A23-B216-3673A9CC7A5A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CONCLUSÃO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263CF0E9-0990-47B8-8DE6-8EC837021DAC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7239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sistema já responde</a:t>
            </a:r>
          </a:p>
          <a:p>
            <a:pPr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 evidência auditável.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0DCDBA4E-5AD7-4500-8973-844D9CC31F00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CBD5E1"/>
                </a:solidFill>
                <a:latin typeface="Aptos"/>
                <a:ea typeface="Aptos"/>
                <a:cs typeface="Aptos"/>
              </a:rPr>
              <a:t>O próximo salto não é apenas gerar mais respostas — é ampliar cobertura mantendo suporte factual, isolamento documental e reprodutibilidade.</a:t>
            </a:r>
          </a:p>
        </p:txBody>
      </p:sp>
      <p:sp>
        <p:nvSpPr>
          <p:cNvPr id="4" name="Retângulo de cantos arredondados 3">
            <a:extLst>
              <a:ext uri="{FF2B5EF4-FFF2-40B4-BE49-F238E27FC236}">
                <a16:creationId xmlns:a16="http://schemas.microsoft.com/office/drawing/2014/main" xmlns="" id="{14F31000-4443-4897-9372-A98DAE2EABCB}"/>
              </a:ext>
            </a:extLst>
          </p:cNvPr>
          <p:cNvSpPr>
            <a:spLocks noGrp="1"/>
          </p:cNvSpPr>
          <p:nvPr/>
        </p:nvSpPr>
        <p:spPr>
          <a:xfrm>
            <a:off x="8620125" y="1190625"/>
            <a:ext cx="2714625" cy="3810000"/>
          </a:xfrm>
          <a:prstGeom prst="roundRect">
            <a:avLst>
              <a:gd name="adj" fmla="val 5614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E067932E-22AE-4BC8-9C6C-B4F8BD4A2DB0}"/>
              </a:ext>
            </a:extLst>
          </p:cNvPr>
          <p:cNvSpPr>
            <a:spLocks noGrp="1"/>
          </p:cNvSpPr>
          <p:nvPr/>
        </p:nvSpPr>
        <p:spPr>
          <a:xfrm>
            <a:off x="8953500" y="1809750"/>
            <a:ext cx="20478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88ABE89B-FA78-4333-A62A-633BE776771D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20478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FFFFF"/>
                </a:solidFill>
                <a:latin typeface="Aptos"/>
                <a:ea typeface="Aptos"/>
                <a:cs typeface="Aptos"/>
              </a:rPr>
              <a:t>Faithfulness 1,00</a:t>
            </a:r>
          </a:p>
          <a:p>
            <a:pPr algn="ctr">
              <a:defRPr sz="15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FFFFF"/>
                </a:solidFill>
                <a:latin typeface="Aptos"/>
                <a:ea typeface="Aptos"/>
                <a:cs typeface="Aptos"/>
              </a:rPr>
              <a:t>Unsupported claims 0%</a:t>
            </a:r>
          </a:p>
          <a:p>
            <a:pPr algn="ctr">
              <a:defRPr sz="15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FFFFFF"/>
                </a:solidFill>
                <a:latin typeface="Aptos"/>
                <a:ea typeface="Aptos"/>
                <a:cs typeface="Aptos"/>
              </a:rPr>
              <a:t>160 testes aprovados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A0A08858-6B88-452B-A12D-846E43272593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xmlns="" val="131619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1107</Words>
  <Application>Microsoft Office PowerPoint</Application>
  <DocSecurity>0</DocSecurity>
  <PresentationFormat>Personalizar</PresentationFormat>
  <Paragraphs>263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DAMASCENO DA FROTA</cp:lastModifiedBy>
  <cp:revision>1</cp:revision>
  <dcterms:created xsi:type="dcterms:W3CDTF">2026-08-07T12:48:11Z</dcterms:created>
  <dcterms:modified xsi:type="dcterms:W3CDTF">2026-08-07T13:13:00Z</dcterms:modified>
</cp:coreProperties>
</file>